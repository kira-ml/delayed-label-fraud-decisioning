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13c7c56-f443-0992-9e62-ee3529b2e95b}">
          <p14:sldIdLst>
            <p14:sldId id="256"/>
            <p14:sldId id="257"/>
            <p14:sldId id="258"/>
          </p14:sldIdLst>
        </p14:section>
        <p14:section name="Methodology" id="{3b3fe8f8-a935-4713-c276-c951d9558713}">
          <p14:sldIdLst>
            <p14:sldId id="259"/>
            <p14:sldId id="260"/>
          </p14:sldIdLst>
        </p14:section>
        <p14:section name="System" id="{02679296-e8cf-4609-b04b-b5afa9cdf33a}">
          <p14:sldIdLst>
            <p14:sldId id="261"/>
            <p14:sldId id="262"/>
          </p14:sldIdLst>
        </p14:section>
        <p14:section name="Results" id="{8de68fda-42c8-564f-07db-2c2309e26b1a}">
          <p14:sldIdLst>
            <p14:sldId id="263"/>
            <p14:sldId id="264"/>
            <p14:sldId id="265"/>
          </p14:sldIdLst>
        </p14:section>
        <p14:section name="Close" id="{03ead62b-4ad1-b062-4e19-525431ca74a4}">
          <p14:sldIdLst>
            <p14:sldId id="266"/>
          </p14:sldIdLst>
        </p14:section>
        <p14:section name="Appendix" id="{c173f444-d73f-5486-da5b-a5aa84165f04}">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Average cost per application (lower is better)</a:t>
            </a:r>
          </a:p>
        </c:rich>
      </c:tx>
      <c:layout/>
      <c:overlay val="0"/>
    </c:title>
    <c:autoTitleDeleted val="0"/>
    <c:plotArea>
      <c:layout/>
      <c:barChart>
        <c:barDir val="bar"/>
        <c:grouping val="clustered"/>
        <c:varyColors val="0"/>
        <c:ser>
          <c:idx val="0"/>
          <c:order val="0"/>
          <c:tx>
            <c:strRef>
              <c:f>Sheet1!$B$1</c:f>
              <c:strCache>
                <c:ptCount val="1"/>
                <c:pt idx="0">
                  <c:v>Cost per application</c:v>
                </c:pt>
              </c:strCache>
            </c:strRef>
          </c:tx>
          <c:spPr>
            <a:solidFill>
              <a:srgbClr val="13294B"/>
            </a:solidFill>
            <a:effectLst/>
          </c:spPr>
          <c:invertIfNegative val="0"/>
          <c:dLbls>
            <c:numFmt formatCode="0.00000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13294B"/>
              </a:solidFill>
              <a:effectLst/>
            </c:spPr>
          </c:dPt>
          <c:dPt>
            <c:idx val="1"/>
            <c:invertIfNegative val="0"/>
            <c:bubble3D val="0"/>
            <c:spPr>
              <a:solidFill>
                <a:srgbClr val="B8C0C9"/>
              </a:solidFill>
              <a:effectLst/>
            </c:spPr>
          </c:dPt>
          <c:dPt>
            <c:idx val="2"/>
            <c:invertIfNegative val="0"/>
            <c:bubble3D val="0"/>
            <c:spPr>
              <a:solidFill>
                <a:srgbClr val="B8C0C9"/>
              </a:solidFill>
              <a:effectLst/>
            </c:spPr>
          </c:dPt>
          <c:dPt>
            <c:idx val="3"/>
            <c:invertIfNegative val="0"/>
            <c:bubble3D val="0"/>
            <c:spPr>
              <a:solidFill>
                <a:srgbClr val="B8C0C9"/>
              </a:solidFill>
              <a:effectLst/>
            </c:spPr>
          </c:dPt>
          <c:dPt>
            <c:idx val="4"/>
            <c:invertIfNegative val="0"/>
            <c:bubble3D val="0"/>
            <c:spPr>
              <a:solidFill>
                <a:srgbClr val="B8C0C9"/>
              </a:solidFill>
              <a:effectLst/>
            </c:spPr>
          </c:dPt>
          <c:dPt>
            <c:idx val="5"/>
            <c:invertIfNegative val="0"/>
            <c:bubble3D val="0"/>
            <c:spPr>
              <a:solidFill>
                <a:srgbClr val="B8C0C9"/>
              </a:solidFill>
              <a:effectLst/>
            </c:spPr>
          </c:dPt>
          <c:dPt>
            <c:idx val="6"/>
            <c:invertIfNegative val="0"/>
            <c:bubble3D val="0"/>
            <c:spPr>
              <a:solidFill>
                <a:srgbClr val="B8C0C9"/>
              </a:solidFill>
              <a:effectLst/>
            </c:spPr>
          </c:dPt>
          <c:cat>
            <c:multiLvlStrRef>
              <c:f>Sheet1!$A$2:$A$8</c:f>
              <c:multiLvlStrCache>
                <c:ptCount val="7"/>
                <c:lvl>
                  <c:pt idx="0">
                    <c:v>Decision desk (cost-based)</c:v>
                  </c:pt>
                  <c:pt idx="1">
                    <c:v>LightGBM + 50% cut-off (best simple rule)</c:v>
                  </c:pt>
                  <c:pt idx="2">
                    <c:v>Logistic Regression + 50% cut-off</c:v>
                  </c:pt>
                  <c:pt idx="3">
                    <c:v>Random Forest + 50% cut-off</c:v>
                  </c:pt>
                  <c:pt idx="4">
                    <c:v>Approve everyone</c:v>
                  </c:pt>
                  <c:pt idx="5">
                    <c:v>Random decisions</c:v>
                  </c:pt>
                  <c:pt idx="6">
                    <c:v>Block everyone</c:v>
                  </c:pt>
                </c:lvl>
              </c:multiLvlStrCache>
            </c:multiLvlStrRef>
          </c:cat>
          <c:val>
            <c:numRef>
              <c:f>Sheet1!$B$2:$B$8</c:f>
              <c:numCache>
                <c:formatCode>General</c:formatCode>
                <c:ptCount val="7"/>
                <c:pt idx="0">
                  <c:v>0.007491</c:v>
                </c:pt>
                <c:pt idx="1">
                  <c:v>0.017798</c:v>
                </c:pt>
                <c:pt idx="2">
                  <c:v>0.018737</c:v>
                </c:pt>
                <c:pt idx="3">
                  <c:v>0.018928</c:v>
                </c:pt>
                <c:pt idx="4">
                  <c:v>0.018928</c:v>
                </c:pt>
                <c:pt idx="5">
                  <c:v>0.047484</c:v>
                </c:pt>
                <c:pt idx="6">
                  <c:v>0.098742</c:v>
                </c:pt>
              </c:numCache>
            </c:numRef>
          </c:val>
        </c:ser>
        <c:dLbls>
          <c:numFmt formatCode="0.00000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0.12"/>
        </c:scaling>
        <c:delete val="0"/>
        <c:axPos val="b"/>
        <c:majorGridlines>
          <c:spPr>
            <a:ln w="9525" cap="flat">
              <a:solidFill>
                <a:srgbClr val="D6DBD0"/>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3E4752"/>
                </a:solidFill>
                <a:latin typeface="+mn-lt"/>
              </a:defRPr>
            </a:pPr>
            <a:endParaRPr lang="en-US"/>
          </a:p>
        </c:txPr>
        <c:crossAx val="2094734554"/>
        <c:crosses val="autoZero"/>
        <c:crossBetween val="between"/>
        <c:majorUnit val="0.02"/>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How much cheaper than the best simple rule, when each cost guess is halved or doubled</a:t>
            </a:r>
          </a:p>
        </c:rich>
      </c:tx>
      <c:layout/>
      <c:overlay val="0"/>
    </c:title>
    <c:autoTitleDeleted val="0"/>
    <c:plotArea>
      <c:layout/>
      <c:barChart>
        <c:barDir val="bar"/>
        <c:grouping val="clustered"/>
        <c:varyColors val="0"/>
        <c:ser>
          <c:idx val="0"/>
          <c:order val="0"/>
          <c:tx>
            <c:strRef>
              <c:f>Sheet1!$B$1</c:f>
              <c:strCache>
                <c:ptCount val="1"/>
                <c:pt idx="0">
                  <c:v>Cheaper by (%)</c:v>
                </c:pt>
              </c:strCache>
            </c:strRef>
          </c:tx>
          <c:spPr>
            <a:solidFill>
              <a:srgbClr val="B8C0C9"/>
            </a:solidFill>
            <a:effectLst/>
          </c:spPr>
          <c:invertIfNegative val="0"/>
          <c:dLbls>
            <c:numFmt formatCode="0.00&quot;%&quot;"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B8C0C9"/>
              </a:solidFill>
              <a:effectLst/>
            </c:spPr>
          </c:dPt>
          <c:dPt>
            <c:idx val="1"/>
            <c:invertIfNegative val="0"/>
            <c:bubble3D val="0"/>
            <c:spPr>
              <a:solidFill>
                <a:srgbClr val="B8C0C9"/>
              </a:solidFill>
              <a:effectLst/>
            </c:spPr>
          </c:dPt>
          <c:dPt>
            <c:idx val="2"/>
            <c:invertIfNegative val="0"/>
            <c:bubble3D val="0"/>
            <c:spPr>
              <a:solidFill>
                <a:srgbClr val="13294B"/>
              </a:solidFill>
              <a:effectLst/>
            </c:spPr>
          </c:dPt>
          <c:dPt>
            <c:idx val="3"/>
            <c:invertIfNegative val="0"/>
            <c:bubble3D val="0"/>
            <c:spPr>
              <a:solidFill>
                <a:srgbClr val="B8C0C9"/>
              </a:solidFill>
              <a:effectLst/>
            </c:spPr>
          </c:dPt>
          <c:dPt>
            <c:idx val="4"/>
            <c:invertIfNegative val="0"/>
            <c:bubble3D val="0"/>
            <c:spPr>
              <a:solidFill>
                <a:srgbClr val="B8C0C9"/>
              </a:solidFill>
              <a:effectLst/>
            </c:spPr>
          </c:dPt>
          <c:dPt>
            <c:idx val="5"/>
            <c:invertIfNegative val="0"/>
            <c:bubble3D val="0"/>
            <c:spPr>
              <a:solidFill>
                <a:srgbClr val="B8C0C9"/>
              </a:solidFill>
              <a:effectLst/>
            </c:spPr>
          </c:dPt>
          <c:dPt>
            <c:idx val="6"/>
            <c:invertIfNegative val="0"/>
            <c:bubble3D val="0"/>
            <c:spPr>
              <a:solidFill>
                <a:srgbClr val="B8C0C9"/>
              </a:solidFill>
              <a:effectLst/>
            </c:spPr>
          </c:dPt>
          <c:cat>
            <c:multiLvlStrRef>
              <c:f>Sheet1!$A$2:$A$8</c:f>
              <c:multiLvlStrCache>
                <c:ptCount val="7"/>
                <c:lvl>
                  <c:pt idx="0">
                    <c:v>Checks catch less</c:v>
                  </c:pt>
                  <c:pt idx="1">
                    <c:v>Checks catch more</c:v>
                  </c:pt>
                  <c:pt idx="2">
                    <c:v>Checks cost 2×</c:v>
                  </c:pt>
                  <c:pt idx="3">
                    <c:v>Checks cost ½×</c:v>
                  </c:pt>
                  <c:pt idx="4">
                    <c:v>Blocking costs 2×</c:v>
                  </c:pt>
                  <c:pt idx="5">
                    <c:v>Blocking costs ½×</c:v>
                  </c:pt>
                  <c:pt idx="6">
                    <c:v>As planned</c:v>
                  </c:pt>
                </c:lvl>
              </c:multiLvlStrCache>
            </c:multiLvlStrRef>
          </c:cat>
          <c:val>
            <c:numRef>
              <c:f>Sheet1!$B$2:$B$8</c:f>
              <c:numCache>
                <c:formatCode>General</c:formatCode>
                <c:ptCount val="7"/>
                <c:pt idx="0">
                  <c:v>51.12</c:v>
                </c:pt>
                <c:pt idx="1">
                  <c:v>62.99</c:v>
                </c:pt>
                <c:pt idx="2">
                  <c:v>47.76</c:v>
                </c:pt>
                <c:pt idx="3">
                  <c:v>64.87</c:v>
                </c:pt>
                <c:pt idx="4">
                  <c:v>57.38</c:v>
                </c:pt>
                <c:pt idx="5">
                  <c:v>60.36</c:v>
                </c:pt>
                <c:pt idx="6">
                  <c:v>57.91</c:v>
                </c:pt>
              </c:numCache>
            </c:numRef>
          </c:val>
        </c:ser>
        <c:dLbls>
          <c:numFmt formatCode="0.00&quot;%&quot;"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b"/>
        <c:majorGridlines>
          <c:spPr>
            <a:ln w="9525" cap="flat">
              <a:solidFill>
                <a:srgbClr val="D6DBD0"/>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3E4752"/>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 · 0:20 · Title
Good morning. We are Ken, Lawrence, John Kelly, and Smith. Our project is the
Fraud Decision Desk: a system that decides what a bank should do with an
application right now, before anyone knows if it is fraud.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 · 0:50 · The problem
When someone applies for a bank account, the bank has to decide immediately:
approve or refuse.
But the bank only finds out if it was fraud weeks or even months later, usually
30 to 120 days. And some fraud is never reported at all.
So the real question is not "is this fraud?" We can't know that yet. The real
question is: what should we do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 · 0:40 · What we set out to do
We had four goals.
One: treat fraud as a decision, not just a prediction.
Two: choose between three actions: approve, review, or block, by comparing
what each one would cost.
Three: test it fairly, on months the system had never seen, and only once.
And four: be honest about the limits.
Lawrence will explain how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LAWRENCE · 1:00 · Our idea: price every option
Our system works in three steps.
First, a model looks at the application and estimates a fraud risk, say 12.5%.
Second, it puts a price on each option. If we let it through, we risk
losing the money. If we send it for a manual check, we pay for the check,
but we stop most of the loss. If we block it, we might turn away a genuine
customer, and that has a cost too.
Third, it simply picks the cheapest option and stamps it.
One important detail: a bigger credit limit means a bigger possible loss. So
the same risk can get approved for a small amount but checked for a large one.
You'll see this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LAWRENCE · 0:50 · How we tested it fairly
We used one million applications from the Bank Account Fraud dataset. It is a
synthetic dataset, built to look like real bank data.
We kept time in order, like real life. The system learned from the first three
months, we tuned it on the next two, and we tested it once on the last two
months: 227,491 applications it had never seen.
We also copied the real delay: fraud answers arrive one month late. That means
the final month, 96,843 applications or 9.68%, had no answer yet. We set those
aside instead of pretending they were safe.
John Kelly will now show you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JOHN KELLY · 0:45 · The system
Here is the system in one picture.
In: the application's details, the requested credit limit, and our fixed
cost settings.
Through: a risk model estimates the fraud risk, then the desk prices the
three options and picks the cheapest.
Out: the fraud risk, a stamp (approved, for review, or blocked), the reason
behind it, and for a batch, a ranked worklist you can download.
Let me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JOHN KELLY · 2:30 · Live demo
Before you start: open the app in a browser tab before the presentation. If
the internet fails, use the screenshots on this slide and say the same lines.
1. Check one application → Everyday (0:30)
   &gt; This is a typical application. The fraud risk is 1.3%. The desk stamps it
   &gt; APPROVED. Below, you can see why: letting it through is the cheapest of
   &gt; the three options.
2. Unusual (0:15)
   &gt; This one has some warning signs: 12.5% risk. At a small credit limit of 200,
   &gt; it is still approved.
3. Drag the credit limit up to about 1,000 (0:30)
   &gt; Now watch. I'm only raising the credit limit. The risk stays at 12.5%, but
   &gt; the stamp changes to FOR REVIEW. A bigger amount means a bigger possible
   &gt; loss, so a manual check is now the cheapest option.
4. Suspicious (0:20)
   &gt; This one was real fraud in the dataset. Risk is almost 30%. The desk
   &gt; BLOCKS it.
5. Check a batch → Use the 500-application sample (0:35)
   &gt; The desk can also check many at once. Out of 500 applications, 450 are
   &gt; approved, 46 go for review, and 4 are blocked. The worklist puts the most
   &gt; important ones on top, and you can download every decision.
6. Study results tab (0:20)
   &gt; And this tab shows what we found when we tested it. Smith will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SMITH · 1:00 · Result: the desk cut costs by more than half
Here is our main result.
We compared the desk with simpler strategies: approve everyone, block
everyone, random, and the usual approach of a model with a 50% cut-off.
The best simple rule cost 0.017798 per application. Our desk cost 0.007491.
That is 57.91% lower.
And we checked that this isn't luck: with 95% confidence, the real reduction
is between 53.95% and 62.13%.
Why does the 50% cut-off do so badly? Because only about 1 in 100 applications
is fraud, so the model almost never says "above 50%". It ends up approving
nearly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SMITH · 0:40 · It holds up
We didn't want a result that only works with our exact cost guesses. So we
halved and doubled each cost, one at a time. The desk was still at least
47.76% cheaper every time.
We also compared three different models. They were within 1.07% of each
other, below the 5% bar we set in advance for a real difference. So we chose
the simplest one. The lesson: the decision rule does the work, not a
fancier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SMITH · 0:40 · Conclusion and limits
To conclude: weighing the cost of each option beats a fixed cut-off, by
57.91%. Bigger amounts automatically get more caution. And we reported the
applications we couldn't judge instead of hiding them.
We also want to be clear about the limits. The data is synthetic, not from a
real bank. We tested one delay, one month. And the credit limit stands in for
the amount at risk.
Thank you. We're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 Q&amp;A
Prepared answers. Whoever owns the topic answers.
Q: Why not just use accuracy? (Smith)
A: Fraud is about 1% of applications, so "approve everyone" is 99% accurate and still loses money. Cost is what the bank cares about.
Q: Why Logistic Regression? (Lawrence)
A: All three models were within 1.07%, below our 5% bar. When it's a tie, we pick the simplest and fastest to explain.
Q: Where do the cost numbers come from? (Lawrence)
A: They were fixed before any modelling. Wrongly blocking = 0.1, a manual check = 0.02, loss left after a check = 30%. The loss scale comes from the average credit limit in the training months only (521.16).
Q: What if the costs are wrong? (Smith)
A: We halved and doubled each one. The desk stayed at least 47.76% cheaper.
Q: How do you know the probabilities are trustworthy? (Lawrence)
A: We required the risk scores to match real fraud rates before using them (calibration error 0.0033, our limit was 0.05).
Q: What happened to the last month? (Ken)
A: Its fraud answers would arrive after the data ends, so we set aside 96,843 applications (9.68%) instead of counting them as safe.
Q: Is this ready for a real bank? (Ken)
A: No. It's a controlled test on synthetic data with one delay setting. It shows the approach works; a bank would need to test it on its own data.
Q: What does "cost unit" mean? (John Kelly)
A: One unit is the loss from one fraudulent application of average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only. If the internet or the app fails during the demo, jump here and walk through the same steps with these screenshots (the lines are in the slide 7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only. If the internet or the app fails during the demo, jump here and walk through the same steps with these screenshots (the lines are in the slide 7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417320"/>
            <a:ext cx="7680960" cy="10972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9144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3F5E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94360" y="347472"/>
            <a:ext cx="11002975" cy="77724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txBox="1"/>
          <p:nvPr/>
        </p:nvSpPr>
        <p:spPr>
          <a:xfrm>
            <a:off x="594360" y="6473952"/>
            <a:ext cx="7315200" cy="274320"/>
          </a:xfrm>
          <a:prstGeom prst="rect">
            <a:avLst/>
          </a:prstGeom>
          <a:noFill/>
          <a:ln/>
        </p:spPr>
        <p:txBody>
          <a:bodyPr wrap="square" lIns="0" tIns="0" rIns="0" bIns="0" rtlCol="0" anchor="ctr"/>
          <a:lstStyle/>
          <a:p>
            <a:pPr indent="0" marL="0">
              <a:buNone/>
            </a:pPr>
            <a:r>
              <a:rPr lang="en-US" sz="1000" dirty="0">
                <a:solidFill>
                  <a:schemeClr val="tx1"/>
                </a:solidFill>
              </a:rPr>
              <a:t>Fraud Decision Desk  ·  Introduction to Machine Learning, Final Project</a:t>
            </a:r>
            <a:endParaRPr lang="en-US" sz="1000" dirty="0"/>
          </a:p>
        </p:txBody>
      </p:sp>
      <p:sp>
        <p:nvSpPr>
          <p:cNvPr id="25" name="Slide Number Placeholder 0"/>
          <p:cNvSpPr>
            <a:spLocks noGrp="1"/>
          </p:cNvSpPr>
          <p:nvPr>
            <p:ph type="sldNum" sz="quarter" idx="4294967295"/>
          </p:nvPr>
        </p:nvSpPr>
        <p:spPr>
          <a:xfrm>
            <a:off x="1104869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E475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4869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E475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85800" y="1417320"/>
            <a:ext cx="7680960" cy="1097280"/>
          </a:xfrm>
          <a:prstGeom prst="rect">
            <a:avLst/>
          </a:prstGeom>
          <a:noFill/>
          <a:ln/>
        </p:spPr>
        <p:txBody>
          <a:bodyPr wrap="square" lIns="0" tIns="0" rIns="0" bIns="0" rtlCol="0" anchor="b"/>
          <a:lstStyle/>
          <a:p>
            <a:pPr algn="l" indent="0" marL="0">
              <a:buNone/>
            </a:pPr>
            <a:r>
              <a:rPr lang="en-US" sz="5400" b="1" dirty="0">
                <a:solidFill>
                  <a:schemeClr val="bg1"/>
                </a:solidFill>
              </a:rPr>
              <a:t>Fraud Decision Desk</a:t>
            </a:r>
            <a:endParaRPr lang="en-US" sz="5400" dirty="0"/>
          </a:p>
        </p:txBody>
      </p:sp>
      <p:sp>
        <p:nvSpPr>
          <p:cNvPr id="3" name="Text 1"/>
          <p:cNvSpPr txBox="1"/>
          <p:nvPr/>
        </p:nvSpPr>
        <p:spPr>
          <a:xfrm>
            <a:off x="685800" y="2651760"/>
            <a:ext cx="7498080" cy="822960"/>
          </a:xfrm>
          <a:prstGeom prst="rect">
            <a:avLst/>
          </a:prstGeom>
          <a:noFill/>
          <a:ln/>
        </p:spPr>
        <p:txBody>
          <a:bodyPr wrap="square" lIns="0" tIns="0" rIns="0" bIns="0" rtlCol="0" anchor="t"/>
          <a:lstStyle/>
          <a:p>
            <a:pPr indent="0" marL="0">
              <a:buNone/>
            </a:pPr>
            <a:r>
              <a:rPr lang="en-US" sz="2200" dirty="0">
                <a:solidFill>
                  <a:srgbClr val="AFC0DA"/>
                </a:solidFill>
              </a:rPr>
              <a:t>Cost-Sensitive Fraud Decisioning Under Delayed and Censored Labels</a:t>
            </a:r>
            <a:endParaRPr lang="en-US" sz="2200" dirty="0"/>
          </a:p>
        </p:txBody>
      </p:sp>
      <p:sp>
        <p:nvSpPr>
          <p:cNvPr id="4" name="Text 2"/>
          <p:cNvSpPr txBox="1"/>
          <p:nvPr/>
        </p:nvSpPr>
        <p:spPr>
          <a:xfrm>
            <a:off x="685800" y="4069080"/>
            <a:ext cx="7863840" cy="365760"/>
          </a:xfrm>
          <a:prstGeom prst="rect">
            <a:avLst/>
          </a:prstGeom>
          <a:noFill/>
          <a:ln/>
        </p:spPr>
        <p:txBody>
          <a:bodyPr wrap="square" lIns="0" tIns="0" rIns="0" bIns="0" rtlCol="0" anchor="t"/>
          <a:lstStyle/>
          <a:p>
            <a:pPr indent="0" marL="0">
              <a:buNone/>
            </a:pPr>
            <a:r>
              <a:rPr lang="en-US" sz="1600" b="1" dirty="0">
                <a:solidFill>
                  <a:srgbClr val="FFFFFF"/>
                </a:solidFill>
              </a:rPr>
              <a:t>Ken Ira Lacson Talingting  ·  Lawrence Abad  ·  John Kelly Nogales  ·  Smith Albert Surio</a:t>
            </a:r>
            <a:endParaRPr lang="en-US" sz="1600" dirty="0"/>
          </a:p>
        </p:txBody>
      </p:sp>
      <p:sp>
        <p:nvSpPr>
          <p:cNvPr id="5" name="Text 3"/>
          <p:cNvSpPr txBox="1"/>
          <p:nvPr/>
        </p:nvSpPr>
        <p:spPr>
          <a:xfrm>
            <a:off x="685800" y="4526280"/>
            <a:ext cx="7863840" cy="685800"/>
          </a:xfrm>
          <a:prstGeom prst="rect">
            <a:avLst/>
          </a:prstGeom>
          <a:noFill/>
          <a:ln/>
        </p:spPr>
        <p:txBody>
          <a:bodyPr wrap="square" lIns="0" tIns="0" rIns="0" bIns="0" rtlCol="0" anchor="t"/>
          <a:lstStyle/>
          <a:p>
            <a:pPr indent="0" marL="0">
              <a:spcAft>
                <a:spcPts val="400"/>
              </a:spcAft>
              <a:buNone/>
            </a:pPr>
            <a:r>
              <a:rPr lang="en-US" sz="1400" dirty="0">
                <a:solidFill>
                  <a:srgbClr val="AFC0DA"/>
                </a:solidFill>
              </a:rPr>
              <a:t>College of Computing and Information Technologies, National University Philippines</a:t>
            </a:r>
            <a:endParaRPr lang="en-US" sz="1400" dirty="0"/>
          </a:p>
          <a:p>
            <a:pPr indent="0" marL="0">
              <a:spcAft>
                <a:spcPts val="400"/>
              </a:spcAft>
              <a:buNone/>
            </a:pPr>
            <a:r>
              <a:rPr lang="en-US" sz="1400" dirty="0">
                <a:solidFill>
                  <a:srgbClr val="AFC0DA"/>
                </a:solidFill>
              </a:rPr>
              <a:t>Introduction to Machine Learning, Final Project  ·  October 17, 2026</a:t>
            </a:r>
            <a:endParaRPr lang="en-US" sz="1400" dirty="0"/>
          </a:p>
        </p:txBody>
      </p:sp>
      <p:sp>
        <p:nvSpPr>
          <p:cNvPr id="6" name="stamp-approve-outer"/>
          <p:cNvSpPr/>
          <p:nvPr/>
        </p:nvSpPr>
        <p:spPr>
          <a:xfrm rot="-360000">
            <a:off x="8915400" y="1554480"/>
            <a:ext cx="2514600" cy="868680"/>
          </a:xfrm>
          <a:prstGeom prst="roundRect">
            <a:avLst>
              <a:gd name="adj" fmla="val 8421"/>
            </a:avLst>
          </a:prstGeom>
          <a:solidFill>
            <a:srgbClr val="FFFFFF"/>
          </a:solidFill>
          <a:ln w="31750">
            <a:solidFill>
              <a:srgbClr val="1E7A46"/>
            </a:solidFill>
            <a:prstDash val="solid"/>
          </a:ln>
        </p:spPr>
      </p:sp>
      <p:sp>
        <p:nvSpPr>
          <p:cNvPr id="7" name="stamp-approve"/>
          <p:cNvSpPr/>
          <p:nvPr/>
        </p:nvSpPr>
        <p:spPr>
          <a:xfrm rot="-360000">
            <a:off x="8976208" y="1615288"/>
            <a:ext cx="2392985" cy="747065"/>
          </a:xfrm>
          <a:prstGeom prst="roundRect">
            <a:avLst>
              <a:gd name="adj" fmla="val 7344"/>
            </a:avLst>
          </a:prstGeom>
          <a:solidFill>
            <a:srgbClr val="FFFFFF"/>
          </a:solidFill>
          <a:ln w="12700">
            <a:solidFill>
              <a:srgbClr val="1E7A46"/>
            </a:solidFill>
          </a:ln>
        </p:spPr>
        <p:txBody>
          <a:bodyPr wrap="square" lIns="0" tIns="0" rIns="0" bIns="0" rtlCol="0" anchor="ctr"/>
          <a:lstStyle/>
          <a:p>
            <a:pPr algn="ctr" indent="0" marL="0">
              <a:buNone/>
            </a:pPr>
            <a:r>
              <a:rPr lang="en-US" sz="2600" b="1" spc="300" kern="0" dirty="0">
                <a:solidFill>
                  <a:srgbClr val="1E7A46"/>
                </a:solidFill>
                <a:latin typeface="Arial Narrow" pitchFamily="34" charset="0"/>
                <a:ea typeface="Arial Narrow" pitchFamily="34" charset="-122"/>
                <a:cs typeface="Arial Narrow" pitchFamily="34" charset="-120"/>
              </a:rPr>
              <a:t>APPROVED</a:t>
            </a:r>
            <a:endParaRPr lang="en-US" sz="2600" dirty="0"/>
          </a:p>
        </p:txBody>
      </p:sp>
      <p:sp>
        <p:nvSpPr>
          <p:cNvPr id="8" name="stamp-review-outer"/>
          <p:cNvSpPr/>
          <p:nvPr/>
        </p:nvSpPr>
        <p:spPr>
          <a:xfrm rot="240000">
            <a:off x="8732520" y="2788920"/>
            <a:ext cx="2834640" cy="868680"/>
          </a:xfrm>
          <a:prstGeom prst="roundRect">
            <a:avLst>
              <a:gd name="adj" fmla="val 8421"/>
            </a:avLst>
          </a:prstGeom>
          <a:solidFill>
            <a:srgbClr val="FFFFFF"/>
          </a:solidFill>
          <a:ln w="31750">
            <a:solidFill>
              <a:srgbClr val="A8660F"/>
            </a:solidFill>
            <a:prstDash val="solid"/>
          </a:ln>
        </p:spPr>
      </p:sp>
      <p:sp>
        <p:nvSpPr>
          <p:cNvPr id="9" name="stamp-review"/>
          <p:cNvSpPr/>
          <p:nvPr/>
        </p:nvSpPr>
        <p:spPr>
          <a:xfrm rot="240000">
            <a:off x="8793328" y="2849728"/>
            <a:ext cx="2713025" cy="747065"/>
          </a:xfrm>
          <a:prstGeom prst="roundRect">
            <a:avLst>
              <a:gd name="adj" fmla="val 7344"/>
            </a:avLst>
          </a:prstGeom>
          <a:solidFill>
            <a:srgbClr val="FFFFFF"/>
          </a:solidFill>
          <a:ln w="12700">
            <a:solidFill>
              <a:srgbClr val="A8660F"/>
            </a:solidFill>
          </a:ln>
        </p:spPr>
        <p:txBody>
          <a:bodyPr wrap="square" lIns="0" tIns="0" rIns="0" bIns="0" rtlCol="0" anchor="ctr"/>
          <a:lstStyle/>
          <a:p>
            <a:pPr algn="ctr" indent="0" marL="0">
              <a:buNone/>
            </a:pPr>
            <a:r>
              <a:rPr lang="en-US" sz="2600" b="1" spc="300" kern="0" dirty="0">
                <a:solidFill>
                  <a:srgbClr val="A8660F"/>
                </a:solidFill>
                <a:latin typeface="Arial Narrow" pitchFamily="34" charset="0"/>
                <a:ea typeface="Arial Narrow" pitchFamily="34" charset="-122"/>
                <a:cs typeface="Arial Narrow" pitchFamily="34" charset="-120"/>
              </a:rPr>
              <a:t>FOR REVIEW</a:t>
            </a:r>
            <a:endParaRPr lang="en-US" sz="2600" dirty="0"/>
          </a:p>
        </p:txBody>
      </p:sp>
      <p:sp>
        <p:nvSpPr>
          <p:cNvPr id="10" name="stamp-block-outer"/>
          <p:cNvSpPr/>
          <p:nvPr/>
        </p:nvSpPr>
        <p:spPr>
          <a:xfrm rot="-180000">
            <a:off x="9006840" y="4023360"/>
            <a:ext cx="2377440" cy="868680"/>
          </a:xfrm>
          <a:prstGeom prst="roundRect">
            <a:avLst>
              <a:gd name="adj" fmla="val 8421"/>
            </a:avLst>
          </a:prstGeom>
          <a:solidFill>
            <a:srgbClr val="FFFFFF"/>
          </a:solidFill>
          <a:ln w="31750">
            <a:solidFill>
              <a:srgbClr val="B42318"/>
            </a:solidFill>
            <a:prstDash val="solid"/>
          </a:ln>
        </p:spPr>
      </p:sp>
      <p:sp>
        <p:nvSpPr>
          <p:cNvPr id="11" name="stamp-block"/>
          <p:cNvSpPr/>
          <p:nvPr/>
        </p:nvSpPr>
        <p:spPr>
          <a:xfrm rot="-180000">
            <a:off x="9067648" y="4084168"/>
            <a:ext cx="2255825" cy="747065"/>
          </a:xfrm>
          <a:prstGeom prst="roundRect">
            <a:avLst>
              <a:gd name="adj" fmla="val 7344"/>
            </a:avLst>
          </a:prstGeom>
          <a:solidFill>
            <a:srgbClr val="FFFFFF"/>
          </a:solidFill>
          <a:ln w="12700">
            <a:solidFill>
              <a:srgbClr val="B42318"/>
            </a:solidFill>
          </a:ln>
        </p:spPr>
        <p:txBody>
          <a:bodyPr wrap="square" lIns="0" tIns="0" rIns="0" bIns="0" rtlCol="0" anchor="ctr"/>
          <a:lstStyle/>
          <a:p>
            <a:pPr algn="ctr" indent="0" marL="0">
              <a:buNone/>
            </a:pPr>
            <a:r>
              <a:rPr lang="en-US" sz="2600" b="1" spc="300" kern="0" dirty="0">
                <a:solidFill>
                  <a:srgbClr val="B42318"/>
                </a:solidFill>
                <a:latin typeface="Arial Narrow" pitchFamily="34" charset="0"/>
                <a:ea typeface="Arial Narrow" pitchFamily="34" charset="-122"/>
                <a:cs typeface="Arial Narrow" pitchFamily="34" charset="-120"/>
              </a:rPr>
              <a:t>BLOCKED</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94360" y="347472"/>
            <a:ext cx="11002975" cy="777240"/>
          </a:xfrm>
          <a:prstGeom prst="rect">
            <a:avLst/>
          </a:prstGeom>
          <a:noFill/>
          <a:ln/>
        </p:spPr>
        <p:txBody>
          <a:bodyPr wrap="square" lIns="0" tIns="0" rIns="0" bIns="0" rtlCol="0" anchor="ctr"/>
          <a:lstStyle/>
          <a:p>
            <a:pPr algn="l" indent="0" marL="0">
              <a:buNone/>
            </a:pPr>
            <a:r>
              <a:rPr lang="en-US" sz="3400" b="1" dirty="0">
                <a:solidFill>
                  <a:schemeClr val="tx2"/>
                </a:solidFill>
              </a:rPr>
              <a:t>The problem: deciding before you know</a:t>
            </a:r>
            <a:endParaRPr lang="en-US" sz="3400" dirty="0"/>
          </a:p>
        </p:txBody>
      </p:sp>
      <p:sp>
        <p:nvSpPr>
          <p:cNvPr id="4" name="Text 1"/>
          <p:cNvSpPr txBox="1"/>
          <p:nvPr/>
        </p:nvSpPr>
        <p:spPr>
          <a:xfrm>
            <a:off x="594360" y="1417320"/>
            <a:ext cx="6035040" cy="20116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1B2430"/>
                </a:solidFill>
              </a:rPr>
              <a:t>A bank must approve or refuse an application now</a:t>
            </a:r>
            <a:endParaRPr lang="en-US" sz="2000" dirty="0"/>
          </a:p>
          <a:p>
            <a:pPr marL="342900" indent="-342900">
              <a:spcAft>
                <a:spcPts val="1200"/>
              </a:spcAft>
              <a:buSzPct val="100000"/>
              <a:buChar char="•"/>
            </a:pPr>
            <a:r>
              <a:rPr lang="en-US" sz="2000" dirty="0">
                <a:solidFill>
                  <a:srgbClr val="1B2430"/>
                </a:solidFill>
              </a:rPr>
              <a:t>Whether it was fraud is only known weeks or months later</a:t>
            </a:r>
            <a:endParaRPr lang="en-US" sz="2000" dirty="0"/>
          </a:p>
          <a:p>
            <a:pPr marL="342900" indent="-342900">
              <a:spcAft>
                <a:spcPts val="1200"/>
              </a:spcAft>
              <a:buSzPct val="100000"/>
              <a:buChar char="•"/>
            </a:pPr>
            <a:r>
              <a:rPr lang="en-US" sz="2000" dirty="0">
                <a:solidFill>
                  <a:srgbClr val="1B2430"/>
                </a:solidFill>
              </a:rPr>
              <a:t>Some fraud is never reported at all</a:t>
            </a:r>
            <a:endParaRPr lang="en-US" sz="2000" dirty="0"/>
          </a:p>
        </p:txBody>
      </p:sp>
      <p:sp>
        <p:nvSpPr>
          <p:cNvPr id="5" name="question-card"/>
          <p:cNvSpPr/>
          <p:nvPr/>
        </p:nvSpPr>
        <p:spPr>
          <a:xfrm>
            <a:off x="7086600" y="1371600"/>
            <a:ext cx="4510735" cy="2057400"/>
          </a:xfrm>
          <a:prstGeom prst="roundRect">
            <a:avLst>
              <a:gd name="adj" fmla="val 5333"/>
            </a:avLst>
          </a:prstGeom>
          <a:solidFill>
            <a:srgbClr val="13294B"/>
          </a:solidFill>
          <a:ln w="9525">
            <a:solidFill>
              <a:srgbClr val="D6DBD0"/>
            </a:solidFill>
            <a:prstDash val="solid"/>
          </a:ln>
          <a:effectLst>
            <a:outerShdw sx="100000" sy="100000" kx="0" ky="0" algn="bl" rotWithShape="0" blurRad="76200" dist="25400" dir="5400000">
              <a:srgbClr val="0C1C36">
                <a:alpha val="8000"/>
              </a:srgbClr>
            </a:outerShdw>
          </a:effectLst>
        </p:spPr>
      </p:sp>
      <p:sp>
        <p:nvSpPr>
          <p:cNvPr id="6" name="Text 3"/>
          <p:cNvSpPr txBox="1"/>
          <p:nvPr/>
        </p:nvSpPr>
        <p:spPr>
          <a:xfrm>
            <a:off x="7406640" y="1645920"/>
            <a:ext cx="4023360" cy="1554480"/>
          </a:xfrm>
          <a:prstGeom prst="rect">
            <a:avLst/>
          </a:prstGeom>
          <a:noFill/>
          <a:ln/>
        </p:spPr>
        <p:txBody>
          <a:bodyPr wrap="square" lIns="0" tIns="0" rIns="0" bIns="0" rtlCol="0" anchor="t"/>
          <a:lstStyle/>
          <a:p>
            <a:pPr indent="0" marL="0">
              <a:spcAft>
                <a:spcPts val="600"/>
              </a:spcAft>
              <a:buNone/>
            </a:pPr>
            <a:r>
              <a:rPr lang="en-US" sz="1600" dirty="0">
                <a:solidFill>
                  <a:srgbClr val="AFC0DA"/>
                </a:solidFill>
              </a:rPr>
              <a:t>The real question</a:t>
            </a:r>
            <a:endParaRPr lang="en-US" sz="1600" dirty="0"/>
          </a:p>
          <a:p>
            <a:pPr indent="0" marL="0">
              <a:spcAft>
                <a:spcPts val="600"/>
              </a:spcAft>
              <a:buNone/>
            </a:pPr>
            <a:r>
              <a:rPr lang="en-US" sz="3000" b="1" dirty="0">
                <a:solidFill>
                  <a:srgbClr val="FFFFFF"/>
                </a:solidFill>
              </a:rPr>
              <a:t>“What should we do right now?”</a:t>
            </a:r>
            <a:endParaRPr lang="en-US" sz="1600" dirty="0"/>
          </a:p>
        </p:txBody>
      </p:sp>
      <p:sp>
        <p:nvSpPr>
          <p:cNvPr id="7" name="timeline"/>
          <p:cNvSpPr/>
          <p:nvPr/>
        </p:nvSpPr>
        <p:spPr>
          <a:xfrm>
            <a:off x="1280160" y="4800600"/>
            <a:ext cx="9631375" cy="0"/>
          </a:xfrm>
          <a:prstGeom prst="line">
            <a:avLst/>
          </a:prstGeom>
          <a:noFill/>
          <a:ln w="31750">
            <a:solidFill>
              <a:srgbClr val="13294B"/>
            </a:solidFill>
            <a:prstDash val="dash"/>
          </a:ln>
        </p:spPr>
      </p:sp>
      <p:sp>
        <p:nvSpPr>
          <p:cNvPr id="8" name="t-start"/>
          <p:cNvSpPr/>
          <p:nvPr/>
        </p:nvSpPr>
        <p:spPr>
          <a:xfrm>
            <a:off x="1078992" y="4599432"/>
            <a:ext cx="402336" cy="402336"/>
          </a:xfrm>
          <a:prstGeom prst="ellipse">
            <a:avLst/>
          </a:prstGeom>
          <a:solidFill>
            <a:srgbClr val="13294B"/>
          </a:solidFill>
          <a:ln w="12700">
            <a:solidFill>
              <a:srgbClr val="13294B"/>
            </a:solidFill>
            <a:prstDash val="solid"/>
          </a:ln>
        </p:spPr>
      </p:sp>
      <p:sp>
        <p:nvSpPr>
          <p:cNvPr id="9" name="t-end"/>
          <p:cNvSpPr/>
          <p:nvPr/>
        </p:nvSpPr>
        <p:spPr>
          <a:xfrm>
            <a:off x="10710367" y="4599432"/>
            <a:ext cx="402336" cy="402336"/>
          </a:xfrm>
          <a:prstGeom prst="ellipse">
            <a:avLst/>
          </a:prstGeom>
          <a:solidFill>
            <a:srgbClr val="FFFFFF"/>
          </a:solidFill>
          <a:ln w="31750">
            <a:solidFill>
              <a:srgbClr val="13294B"/>
            </a:solidFill>
            <a:prstDash val="solid"/>
          </a:ln>
        </p:spPr>
      </p:sp>
      <p:sp>
        <p:nvSpPr>
          <p:cNvPr id="10" name="Text 7"/>
          <p:cNvSpPr txBox="1"/>
          <p:nvPr/>
        </p:nvSpPr>
        <p:spPr>
          <a:xfrm>
            <a:off x="731520" y="5166360"/>
            <a:ext cx="2926080" cy="822960"/>
          </a:xfrm>
          <a:prstGeom prst="rect">
            <a:avLst/>
          </a:prstGeom>
          <a:noFill/>
          <a:ln/>
        </p:spPr>
        <p:txBody>
          <a:bodyPr wrap="square" lIns="0" tIns="0" rIns="0" bIns="0" rtlCol="0" anchor="t"/>
          <a:lstStyle/>
          <a:p>
            <a:pPr indent="0" marL="0">
              <a:buNone/>
            </a:pPr>
            <a:r>
              <a:rPr lang="en-US" sz="2000" b="1" dirty="0">
                <a:solidFill>
                  <a:srgbClr val="1B2430"/>
                </a:solidFill>
              </a:rPr>
              <a:t>Today</a:t>
            </a:r>
            <a:endParaRPr lang="en-US" sz="1600" dirty="0"/>
          </a:p>
          <a:p>
            <a:pPr indent="0" marL="0">
              <a:buNone/>
            </a:pPr>
            <a:r>
              <a:rPr lang="en-US" sz="1600" dirty="0">
                <a:solidFill>
                  <a:srgbClr val="3E4752"/>
                </a:solidFill>
              </a:rPr>
              <a:t>The bank must decide</a:t>
            </a:r>
            <a:endParaRPr lang="en-US" sz="1600" dirty="0"/>
          </a:p>
        </p:txBody>
      </p:sp>
      <p:sp>
        <p:nvSpPr>
          <p:cNvPr id="11" name="Text 8"/>
          <p:cNvSpPr txBox="1"/>
          <p:nvPr/>
        </p:nvSpPr>
        <p:spPr>
          <a:xfrm>
            <a:off x="7619695" y="5166360"/>
            <a:ext cx="3840480" cy="822960"/>
          </a:xfrm>
          <a:prstGeom prst="rect">
            <a:avLst/>
          </a:prstGeom>
          <a:noFill/>
          <a:ln/>
        </p:spPr>
        <p:txBody>
          <a:bodyPr wrap="square" lIns="0" tIns="0" rIns="0" bIns="0" rtlCol="0" anchor="t"/>
          <a:lstStyle/>
          <a:p>
            <a:pPr algn="r" indent="0" marL="0">
              <a:buNone/>
            </a:pPr>
            <a:r>
              <a:rPr lang="en-US" sz="2000" b="1" dirty="0">
                <a:solidFill>
                  <a:srgbClr val="1B2430"/>
                </a:solidFill>
              </a:rPr>
              <a:t>30–120 days later</a:t>
            </a:r>
            <a:endParaRPr lang="en-US" sz="1600" dirty="0"/>
          </a:p>
          <a:p>
            <a:pPr algn="r" indent="0" marL="0">
              <a:buNone/>
            </a:pPr>
            <a:r>
              <a:rPr lang="en-US" sz="1600" dirty="0">
                <a:solidFill>
                  <a:srgbClr val="3E4752"/>
                </a:solidFill>
              </a:rPr>
              <a:t>The truth arrives (sometimes never)</a:t>
            </a:r>
            <a:endParaRPr lang="en-US" sz="1600" dirty="0"/>
          </a:p>
        </p:txBody>
      </p:sp>
      <p:sp>
        <p:nvSpPr>
          <p:cNvPr id="12" name="Text 9"/>
          <p:cNvSpPr txBox="1"/>
          <p:nvPr/>
        </p:nvSpPr>
        <p:spPr>
          <a:xfrm>
            <a:off x="4724248" y="4343400"/>
            <a:ext cx="2743200" cy="320040"/>
          </a:xfrm>
          <a:prstGeom prst="rect">
            <a:avLst/>
          </a:prstGeom>
          <a:noFill/>
          <a:ln/>
        </p:spPr>
        <p:txBody>
          <a:bodyPr wrap="square" lIns="0" tIns="0" rIns="0" bIns="0" rtlCol="0" anchor="t"/>
          <a:lstStyle/>
          <a:p>
            <a:pPr algn="ctr" indent="0" marL="0">
              <a:buNone/>
            </a:pPr>
            <a:r>
              <a:rPr lang="en-US" sz="1400" i="1" dirty="0">
                <a:solidFill>
                  <a:srgbClr val="3E4752"/>
                </a:solidFill>
              </a:rPr>
              <a:t>the waiting gap</a:t>
            </a:r>
            <a:endParaRPr lang="en-US" sz="1400" dirty="0"/>
          </a:p>
        </p:txBody>
      </p:sp>
      <p:sp>
        <p:nvSpPr>
          <p:cNvPr id="25" name="Slide Number Placeholder 0"/>
          <p:cNvSpPr>
            <a:spLocks noGrp="1"/>
          </p:cNvSpPr>
          <p:nvPr>
            <p:ph type="sldNum" sz="quarter" idx="4294967295"/>
          </p:nvPr>
        </p:nvSpPr>
        <p:spPr>
          <a:xfrm>
            <a:off x="1104869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E475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94360" y="347472"/>
            <a:ext cx="11002975" cy="777240"/>
          </a:xfrm>
          <a:prstGeom prst="rect">
            <a:avLst/>
          </a:prstGeom>
          <a:noFill/>
          <a:ln/>
        </p:spPr>
        <p:txBody>
          <a:bodyPr wrap="square" lIns="0" tIns="0" rIns="0" bIns="0" rtlCol="0" anchor="ctr"/>
          <a:lstStyle/>
          <a:p>
            <a:pPr algn="l" indent="0" marL="0">
              <a:buNone/>
            </a:pPr>
            <a:r>
              <a:rPr lang="en-US" sz="3400" b="1" dirty="0">
                <a:solidFill>
                  <a:schemeClr val="tx2"/>
                </a:solidFill>
              </a:rPr>
              <a:t>What we set out to do</a:t>
            </a:r>
            <a:endParaRPr lang="en-US" sz="3400" dirty="0"/>
          </a:p>
        </p:txBody>
      </p:sp>
      <p:sp>
        <p:nvSpPr>
          <p:cNvPr id="4" name="objective-1"/>
          <p:cNvSpPr/>
          <p:nvPr/>
        </p:nvSpPr>
        <p:spPr>
          <a:xfrm>
            <a:off x="594360" y="1463040"/>
            <a:ext cx="5318608" cy="1965960"/>
          </a:xfrm>
          <a:prstGeom prst="roundRect">
            <a:avLst>
              <a:gd name="adj" fmla="val 5581"/>
            </a:avLst>
          </a:prstGeom>
          <a:solidFill>
            <a:srgbClr val="FFFFFF"/>
          </a:solidFill>
          <a:ln w="9525">
            <a:solidFill>
              <a:srgbClr val="D6DBD0"/>
            </a:solidFill>
            <a:prstDash val="solid"/>
          </a:ln>
          <a:effectLst>
            <a:outerShdw sx="100000" sy="100000" kx="0" ky="0" algn="bl" rotWithShape="0" blurRad="76200" dist="25400" dir="5400000">
              <a:srgbClr val="0C1C36">
                <a:alpha val="8000"/>
              </a:srgbClr>
            </a:outerShdw>
          </a:effectLst>
        </p:spPr>
      </p:sp>
      <p:sp>
        <p:nvSpPr>
          <p:cNvPr id="5" name="step-1"/>
          <p:cNvSpPr/>
          <p:nvPr/>
        </p:nvSpPr>
        <p:spPr>
          <a:xfrm>
            <a:off x="960120" y="1874520"/>
            <a:ext cx="640080" cy="640080"/>
          </a:xfrm>
          <a:prstGeom prst="ellipse">
            <a:avLst/>
          </a:prstGeom>
          <a:solidFill>
            <a:srgbClr val="13294B"/>
          </a:solid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3"/>
          <p:cNvSpPr txBox="1"/>
          <p:nvPr/>
        </p:nvSpPr>
        <p:spPr>
          <a:xfrm>
            <a:off x="1874520" y="1874520"/>
            <a:ext cx="3764128" cy="548640"/>
          </a:xfrm>
          <a:prstGeom prst="rect">
            <a:avLst/>
          </a:prstGeom>
          <a:noFill/>
          <a:ln/>
        </p:spPr>
        <p:txBody>
          <a:bodyPr wrap="square" lIns="0" tIns="0" rIns="0" bIns="0" rtlCol="0" anchor="t"/>
          <a:lstStyle/>
          <a:p>
            <a:pPr indent="0" marL="0">
              <a:buNone/>
            </a:pPr>
            <a:r>
              <a:rPr lang="en-US" sz="2400" b="1" dirty="0">
                <a:solidFill>
                  <a:srgbClr val="13294B"/>
                </a:solidFill>
              </a:rPr>
              <a:t>Treat fraud as a decision</a:t>
            </a:r>
            <a:endParaRPr lang="en-US" sz="2400" dirty="0"/>
          </a:p>
        </p:txBody>
      </p:sp>
      <p:sp>
        <p:nvSpPr>
          <p:cNvPr id="7" name="Text 4"/>
          <p:cNvSpPr txBox="1"/>
          <p:nvPr/>
        </p:nvSpPr>
        <p:spPr>
          <a:xfrm>
            <a:off x="1874520" y="2468880"/>
            <a:ext cx="3764128" cy="731520"/>
          </a:xfrm>
          <a:prstGeom prst="rect">
            <a:avLst/>
          </a:prstGeom>
          <a:noFill/>
          <a:ln/>
        </p:spPr>
        <p:txBody>
          <a:bodyPr wrap="square" lIns="0" tIns="0" rIns="0" bIns="0" rtlCol="0" anchor="t"/>
          <a:lstStyle/>
          <a:p>
            <a:pPr indent="0" marL="0">
              <a:buNone/>
            </a:pPr>
            <a:r>
              <a:rPr lang="en-US" sz="1800" dirty="0">
                <a:solidFill>
                  <a:srgbClr val="3E4752"/>
                </a:solidFill>
              </a:rPr>
              <a:t>Choose an action, not just a score</a:t>
            </a:r>
            <a:endParaRPr lang="en-US" sz="1800" dirty="0"/>
          </a:p>
        </p:txBody>
      </p:sp>
      <p:sp>
        <p:nvSpPr>
          <p:cNvPr id="8" name="objective-2"/>
          <p:cNvSpPr/>
          <p:nvPr/>
        </p:nvSpPr>
        <p:spPr>
          <a:xfrm>
            <a:off x="6278728" y="1463040"/>
            <a:ext cx="5318608" cy="1965960"/>
          </a:xfrm>
          <a:prstGeom prst="roundRect">
            <a:avLst>
              <a:gd name="adj" fmla="val 5581"/>
            </a:avLst>
          </a:prstGeom>
          <a:solidFill>
            <a:srgbClr val="FFFFFF"/>
          </a:solidFill>
          <a:ln w="9525">
            <a:solidFill>
              <a:srgbClr val="D6DBD0"/>
            </a:solidFill>
            <a:prstDash val="solid"/>
          </a:ln>
          <a:effectLst>
            <a:outerShdw sx="100000" sy="100000" kx="0" ky="0" algn="bl" rotWithShape="0" blurRad="76200" dist="25400" dir="5400000">
              <a:srgbClr val="0C1C36">
                <a:alpha val="8000"/>
              </a:srgbClr>
            </a:outerShdw>
          </a:effectLst>
        </p:spPr>
      </p:sp>
      <p:sp>
        <p:nvSpPr>
          <p:cNvPr id="9" name="step-2"/>
          <p:cNvSpPr/>
          <p:nvPr/>
        </p:nvSpPr>
        <p:spPr>
          <a:xfrm>
            <a:off x="6644488" y="1874520"/>
            <a:ext cx="640080" cy="640080"/>
          </a:xfrm>
          <a:prstGeom prst="ellipse">
            <a:avLst/>
          </a:prstGeom>
          <a:solidFill>
            <a:srgbClr val="13294B"/>
          </a:solid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7"/>
          <p:cNvSpPr txBox="1"/>
          <p:nvPr/>
        </p:nvSpPr>
        <p:spPr>
          <a:xfrm>
            <a:off x="7558888" y="1874520"/>
            <a:ext cx="3764128" cy="548640"/>
          </a:xfrm>
          <a:prstGeom prst="rect">
            <a:avLst/>
          </a:prstGeom>
          <a:noFill/>
          <a:ln/>
        </p:spPr>
        <p:txBody>
          <a:bodyPr wrap="square" lIns="0" tIns="0" rIns="0" bIns="0" rtlCol="0" anchor="t"/>
          <a:lstStyle/>
          <a:p>
            <a:pPr indent="0" marL="0">
              <a:buNone/>
            </a:pPr>
            <a:r>
              <a:rPr lang="en-US" sz="2400" b="1" dirty="0">
                <a:solidFill>
                  <a:srgbClr val="13294B"/>
                </a:solidFill>
              </a:rPr>
              <a:t>Price three actions</a:t>
            </a:r>
            <a:endParaRPr lang="en-US" sz="2400" dirty="0"/>
          </a:p>
        </p:txBody>
      </p:sp>
      <p:sp>
        <p:nvSpPr>
          <p:cNvPr id="11" name="Text 8"/>
          <p:cNvSpPr txBox="1"/>
          <p:nvPr/>
        </p:nvSpPr>
        <p:spPr>
          <a:xfrm>
            <a:off x="7558888" y="2468880"/>
            <a:ext cx="3764128" cy="731520"/>
          </a:xfrm>
          <a:prstGeom prst="rect">
            <a:avLst/>
          </a:prstGeom>
          <a:noFill/>
          <a:ln/>
        </p:spPr>
        <p:txBody>
          <a:bodyPr wrap="square" lIns="0" tIns="0" rIns="0" bIns="0" rtlCol="0" anchor="t"/>
          <a:lstStyle/>
          <a:p>
            <a:pPr indent="0" marL="0">
              <a:buNone/>
            </a:pPr>
            <a:r>
              <a:rPr lang="en-US" sz="1800" dirty="0">
                <a:solidFill>
                  <a:srgbClr val="3E4752"/>
                </a:solidFill>
              </a:rPr>
              <a:t>Approve, review, or block, by comparing costs</a:t>
            </a:r>
            <a:endParaRPr lang="en-US" sz="1800" dirty="0"/>
          </a:p>
        </p:txBody>
      </p:sp>
      <p:sp>
        <p:nvSpPr>
          <p:cNvPr id="12" name="objective-3"/>
          <p:cNvSpPr/>
          <p:nvPr/>
        </p:nvSpPr>
        <p:spPr>
          <a:xfrm>
            <a:off x="594360" y="3749040"/>
            <a:ext cx="5318608" cy="1965960"/>
          </a:xfrm>
          <a:prstGeom prst="roundRect">
            <a:avLst>
              <a:gd name="adj" fmla="val 5581"/>
            </a:avLst>
          </a:prstGeom>
          <a:solidFill>
            <a:srgbClr val="FFFFFF"/>
          </a:solidFill>
          <a:ln w="9525">
            <a:solidFill>
              <a:srgbClr val="D6DBD0"/>
            </a:solidFill>
            <a:prstDash val="solid"/>
          </a:ln>
          <a:effectLst>
            <a:outerShdw sx="100000" sy="100000" kx="0" ky="0" algn="bl" rotWithShape="0" blurRad="76200" dist="25400" dir="5400000">
              <a:srgbClr val="0C1C36">
                <a:alpha val="8000"/>
              </a:srgbClr>
            </a:outerShdw>
          </a:effectLst>
        </p:spPr>
      </p:sp>
      <p:sp>
        <p:nvSpPr>
          <p:cNvPr id="13" name="step-3"/>
          <p:cNvSpPr/>
          <p:nvPr/>
        </p:nvSpPr>
        <p:spPr>
          <a:xfrm>
            <a:off x="960120" y="4160520"/>
            <a:ext cx="640080" cy="640080"/>
          </a:xfrm>
          <a:prstGeom prst="ellipse">
            <a:avLst/>
          </a:prstGeom>
          <a:solidFill>
            <a:srgbClr val="13294B"/>
          </a:solid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1"/>
          <p:cNvSpPr txBox="1"/>
          <p:nvPr/>
        </p:nvSpPr>
        <p:spPr>
          <a:xfrm>
            <a:off x="1874520" y="4160520"/>
            <a:ext cx="3764128" cy="548640"/>
          </a:xfrm>
          <a:prstGeom prst="rect">
            <a:avLst/>
          </a:prstGeom>
          <a:noFill/>
          <a:ln/>
        </p:spPr>
        <p:txBody>
          <a:bodyPr wrap="square" lIns="0" tIns="0" rIns="0" bIns="0" rtlCol="0" anchor="t"/>
          <a:lstStyle/>
          <a:p>
            <a:pPr indent="0" marL="0">
              <a:buNone/>
            </a:pPr>
            <a:r>
              <a:rPr lang="en-US" sz="2400" b="1" dirty="0">
                <a:solidFill>
                  <a:srgbClr val="13294B"/>
                </a:solidFill>
              </a:rPr>
              <a:t>Test it fairly</a:t>
            </a:r>
            <a:endParaRPr lang="en-US" sz="2400" dirty="0"/>
          </a:p>
        </p:txBody>
      </p:sp>
      <p:sp>
        <p:nvSpPr>
          <p:cNvPr id="15" name="Text 12"/>
          <p:cNvSpPr txBox="1"/>
          <p:nvPr/>
        </p:nvSpPr>
        <p:spPr>
          <a:xfrm>
            <a:off x="1874520" y="4754880"/>
            <a:ext cx="3764128" cy="731520"/>
          </a:xfrm>
          <a:prstGeom prst="rect">
            <a:avLst/>
          </a:prstGeom>
          <a:noFill/>
          <a:ln/>
        </p:spPr>
        <p:txBody>
          <a:bodyPr wrap="square" lIns="0" tIns="0" rIns="0" bIns="0" rtlCol="0" anchor="t"/>
          <a:lstStyle/>
          <a:p>
            <a:pPr indent="0" marL="0">
              <a:buNone/>
            </a:pPr>
            <a:r>
              <a:rPr lang="en-US" sz="1800" dirty="0">
                <a:solidFill>
                  <a:srgbClr val="3E4752"/>
                </a:solidFill>
              </a:rPr>
              <a:t>On months the system never saw, used only once</a:t>
            </a:r>
            <a:endParaRPr lang="en-US" sz="1800" dirty="0"/>
          </a:p>
        </p:txBody>
      </p:sp>
      <p:sp>
        <p:nvSpPr>
          <p:cNvPr id="16" name="objective-4"/>
          <p:cNvSpPr/>
          <p:nvPr/>
        </p:nvSpPr>
        <p:spPr>
          <a:xfrm>
            <a:off x="6278728" y="3749040"/>
            <a:ext cx="5318608" cy="1965960"/>
          </a:xfrm>
          <a:prstGeom prst="roundRect">
            <a:avLst>
              <a:gd name="adj" fmla="val 5581"/>
            </a:avLst>
          </a:prstGeom>
          <a:solidFill>
            <a:srgbClr val="FFFFFF"/>
          </a:solidFill>
          <a:ln w="9525">
            <a:solidFill>
              <a:srgbClr val="D6DBD0"/>
            </a:solidFill>
            <a:prstDash val="solid"/>
          </a:ln>
          <a:effectLst>
            <a:outerShdw sx="100000" sy="100000" kx="0" ky="0" algn="bl" rotWithShape="0" blurRad="76200" dist="25400" dir="5400000">
              <a:srgbClr val="0C1C36">
                <a:alpha val="8000"/>
              </a:srgbClr>
            </a:outerShdw>
          </a:effectLst>
        </p:spPr>
      </p:sp>
      <p:sp>
        <p:nvSpPr>
          <p:cNvPr id="17" name="step-4"/>
          <p:cNvSpPr/>
          <p:nvPr/>
        </p:nvSpPr>
        <p:spPr>
          <a:xfrm>
            <a:off x="6644488" y="4160520"/>
            <a:ext cx="640080" cy="640080"/>
          </a:xfrm>
          <a:prstGeom prst="ellipse">
            <a:avLst/>
          </a:prstGeom>
          <a:solidFill>
            <a:srgbClr val="13294B"/>
          </a:solid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8" name="Text 15"/>
          <p:cNvSpPr txBox="1"/>
          <p:nvPr/>
        </p:nvSpPr>
        <p:spPr>
          <a:xfrm>
            <a:off x="7558888" y="4160520"/>
            <a:ext cx="3764128" cy="548640"/>
          </a:xfrm>
          <a:prstGeom prst="rect">
            <a:avLst/>
          </a:prstGeom>
          <a:noFill/>
          <a:ln/>
        </p:spPr>
        <p:txBody>
          <a:bodyPr wrap="square" lIns="0" tIns="0" rIns="0" bIns="0" rtlCol="0" anchor="t"/>
          <a:lstStyle/>
          <a:p>
            <a:pPr indent="0" marL="0">
              <a:buNone/>
            </a:pPr>
            <a:r>
              <a:rPr lang="en-US" sz="2400" b="1" dirty="0">
                <a:solidFill>
                  <a:srgbClr val="13294B"/>
                </a:solidFill>
              </a:rPr>
              <a:t>Be honest about limits</a:t>
            </a:r>
            <a:endParaRPr lang="en-US" sz="2400" dirty="0"/>
          </a:p>
        </p:txBody>
      </p:sp>
      <p:sp>
        <p:nvSpPr>
          <p:cNvPr id="19" name="Text 16"/>
          <p:cNvSpPr txBox="1"/>
          <p:nvPr/>
        </p:nvSpPr>
        <p:spPr>
          <a:xfrm>
            <a:off x="7558888" y="4754880"/>
            <a:ext cx="3764128" cy="731520"/>
          </a:xfrm>
          <a:prstGeom prst="rect">
            <a:avLst/>
          </a:prstGeom>
          <a:noFill/>
          <a:ln/>
        </p:spPr>
        <p:txBody>
          <a:bodyPr wrap="square" lIns="0" tIns="0" rIns="0" bIns="0" rtlCol="0" anchor="t"/>
          <a:lstStyle/>
          <a:p>
            <a:pPr indent="0" marL="0">
              <a:buNone/>
            </a:pPr>
            <a:r>
              <a:rPr lang="en-US" sz="1800" dirty="0">
                <a:solidFill>
                  <a:srgbClr val="3E4752"/>
                </a:solidFill>
              </a:rPr>
              <a:t>Say clearly what we did not prove</a:t>
            </a:r>
            <a:endParaRPr lang="en-US" sz="1800" dirty="0"/>
          </a:p>
        </p:txBody>
      </p:sp>
      <p:sp>
        <p:nvSpPr>
          <p:cNvPr id="25" name="Slide Number Placeholder 0"/>
          <p:cNvSpPr>
            <a:spLocks noGrp="1"/>
          </p:cNvSpPr>
          <p:nvPr>
            <p:ph type="sldNum" sz="quarter" idx="4294967295"/>
          </p:nvPr>
        </p:nvSpPr>
        <p:spPr>
          <a:xfrm>
            <a:off x="1104869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E475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94360" y="347472"/>
            <a:ext cx="11002975" cy="777240"/>
          </a:xfrm>
          <a:prstGeom prst="rect">
            <a:avLst/>
          </a:prstGeom>
          <a:noFill/>
          <a:ln/>
        </p:spPr>
        <p:txBody>
          <a:bodyPr wrap="square" lIns="0" tIns="0" rIns="0" bIns="0" rtlCol="0" anchor="ctr"/>
          <a:lstStyle/>
          <a:p>
            <a:pPr algn="l" indent="0" marL="0">
              <a:buNone/>
            </a:pPr>
            <a:r>
              <a:rPr lang="en-US" sz="3400" b="1" dirty="0">
                <a:solidFill>
                  <a:schemeClr val="tx2"/>
                </a:solidFill>
              </a:rPr>
              <a:t>Our idea: price every option, pick the cheapest</a:t>
            </a:r>
            <a:endParaRPr lang="en-US" sz="3400" dirty="0"/>
          </a:p>
        </p:txBody>
      </p:sp>
      <p:sp>
        <p:nvSpPr>
          <p:cNvPr id="4" name="method-step-1"/>
          <p:cNvSpPr/>
          <p:nvPr/>
        </p:nvSpPr>
        <p:spPr>
          <a:xfrm>
            <a:off x="594360" y="1417320"/>
            <a:ext cx="3383280" cy="3566160"/>
          </a:xfrm>
          <a:prstGeom prst="roundRect">
            <a:avLst>
              <a:gd name="adj" fmla="val 3243"/>
            </a:avLst>
          </a:prstGeom>
          <a:solidFill>
            <a:srgbClr val="FFFFFF"/>
          </a:solidFill>
          <a:ln w="9525">
            <a:solidFill>
              <a:srgbClr val="D6DBD0"/>
            </a:solidFill>
            <a:prstDash val="solid"/>
          </a:ln>
          <a:effectLst>
            <a:outerShdw sx="100000" sy="100000" kx="0" ky="0" algn="bl" rotWithShape="0" blurRad="76200" dist="25400" dir="5400000">
              <a:srgbClr val="0C1C36">
                <a:alpha val="8000"/>
              </a:srgbClr>
            </a:outerShdw>
          </a:effectLst>
        </p:spPr>
      </p:sp>
      <p:sp>
        <p:nvSpPr>
          <p:cNvPr id="5" name="Text 2"/>
          <p:cNvSpPr txBox="1"/>
          <p:nvPr/>
        </p:nvSpPr>
        <p:spPr>
          <a:xfrm>
            <a:off x="914400" y="1691640"/>
            <a:ext cx="2743200" cy="411480"/>
          </a:xfrm>
          <a:prstGeom prst="rect">
            <a:avLst/>
          </a:prstGeom>
          <a:noFill/>
          <a:ln/>
        </p:spPr>
        <p:txBody>
          <a:bodyPr wrap="square" lIns="0" tIns="0" rIns="0" bIns="0" rtlCol="0" anchor="t"/>
          <a:lstStyle/>
          <a:p>
            <a:pPr indent="0" marL="0">
              <a:buNone/>
            </a:pPr>
            <a:r>
              <a:rPr lang="en-US" sz="2000" b="1" dirty="0">
                <a:solidFill>
                  <a:srgbClr val="13294B"/>
                </a:solidFill>
              </a:rPr>
              <a:t>1  Estimate the risk</a:t>
            </a:r>
            <a:endParaRPr lang="en-US" sz="2000" dirty="0"/>
          </a:p>
        </p:txBody>
      </p:sp>
      <p:sp>
        <p:nvSpPr>
          <p:cNvPr id="6" name="arrow-1"/>
          <p:cNvSpPr/>
          <p:nvPr/>
        </p:nvSpPr>
        <p:spPr>
          <a:xfrm>
            <a:off x="3989756" y="3017520"/>
            <a:ext cx="402336" cy="365760"/>
          </a:xfrm>
          <a:prstGeom prst="rightArrow">
            <a:avLst/>
          </a:prstGeom>
          <a:solidFill>
            <a:srgbClr val="13294B"/>
          </a:solidFill>
          <a:ln w="12700">
            <a:solidFill>
              <a:srgbClr val="13294B"/>
            </a:solidFill>
            <a:prstDash val="solid"/>
          </a:ln>
        </p:spPr>
      </p:sp>
      <p:sp>
        <p:nvSpPr>
          <p:cNvPr id="7" name="method-step-2"/>
          <p:cNvSpPr/>
          <p:nvPr/>
        </p:nvSpPr>
        <p:spPr>
          <a:xfrm>
            <a:off x="4404208" y="1417320"/>
            <a:ext cx="3383280" cy="3566160"/>
          </a:xfrm>
          <a:prstGeom prst="roundRect">
            <a:avLst>
              <a:gd name="adj" fmla="val 3243"/>
            </a:avLst>
          </a:prstGeom>
          <a:solidFill>
            <a:srgbClr val="FFFFFF"/>
          </a:solidFill>
          <a:ln w="9525">
            <a:solidFill>
              <a:srgbClr val="D6DBD0"/>
            </a:solidFill>
            <a:prstDash val="solid"/>
          </a:ln>
          <a:effectLst>
            <a:outerShdw sx="100000" sy="100000" kx="0" ky="0" algn="bl" rotWithShape="0" blurRad="76200" dist="25400" dir="5400000">
              <a:srgbClr val="0C1C36">
                <a:alpha val="8000"/>
              </a:srgbClr>
            </a:outerShdw>
          </a:effectLst>
        </p:spPr>
      </p:sp>
      <p:sp>
        <p:nvSpPr>
          <p:cNvPr id="8" name="Text 5"/>
          <p:cNvSpPr txBox="1"/>
          <p:nvPr/>
        </p:nvSpPr>
        <p:spPr>
          <a:xfrm>
            <a:off x="4724248" y="1691640"/>
            <a:ext cx="2743200" cy="411480"/>
          </a:xfrm>
          <a:prstGeom prst="rect">
            <a:avLst/>
          </a:prstGeom>
          <a:noFill/>
          <a:ln/>
        </p:spPr>
        <p:txBody>
          <a:bodyPr wrap="square" lIns="0" tIns="0" rIns="0" bIns="0" rtlCol="0" anchor="t"/>
          <a:lstStyle/>
          <a:p>
            <a:pPr indent="0" marL="0">
              <a:buNone/>
            </a:pPr>
            <a:r>
              <a:rPr lang="en-US" sz="2000" b="1" dirty="0">
                <a:solidFill>
                  <a:srgbClr val="13294B"/>
                </a:solidFill>
              </a:rPr>
              <a:t>2  Price each option</a:t>
            </a:r>
            <a:endParaRPr lang="en-US" sz="2000" dirty="0"/>
          </a:p>
        </p:txBody>
      </p:sp>
      <p:sp>
        <p:nvSpPr>
          <p:cNvPr id="9" name="arrow-2"/>
          <p:cNvSpPr/>
          <p:nvPr/>
        </p:nvSpPr>
        <p:spPr>
          <a:xfrm>
            <a:off x="7799603" y="3017520"/>
            <a:ext cx="402336" cy="365760"/>
          </a:xfrm>
          <a:prstGeom prst="rightArrow">
            <a:avLst/>
          </a:prstGeom>
          <a:solidFill>
            <a:srgbClr val="13294B"/>
          </a:solidFill>
          <a:ln w="12700">
            <a:solidFill>
              <a:srgbClr val="13294B"/>
            </a:solidFill>
            <a:prstDash val="solid"/>
          </a:ln>
        </p:spPr>
      </p:sp>
      <p:sp>
        <p:nvSpPr>
          <p:cNvPr id="10" name="method-step-3"/>
          <p:cNvSpPr/>
          <p:nvPr/>
        </p:nvSpPr>
        <p:spPr>
          <a:xfrm>
            <a:off x="8214055" y="1417320"/>
            <a:ext cx="3383280" cy="3566160"/>
          </a:xfrm>
          <a:prstGeom prst="roundRect">
            <a:avLst>
              <a:gd name="adj" fmla="val 3243"/>
            </a:avLst>
          </a:prstGeom>
          <a:solidFill>
            <a:srgbClr val="FFFFFF"/>
          </a:solidFill>
          <a:ln w="9525">
            <a:solidFill>
              <a:srgbClr val="D6DBD0"/>
            </a:solidFill>
            <a:prstDash val="solid"/>
          </a:ln>
          <a:effectLst>
            <a:outerShdw sx="100000" sy="100000" kx="0" ky="0" algn="bl" rotWithShape="0" blurRad="76200" dist="25400" dir="5400000">
              <a:srgbClr val="0C1C36">
                <a:alpha val="8000"/>
              </a:srgbClr>
            </a:outerShdw>
          </a:effectLst>
        </p:spPr>
      </p:sp>
      <p:sp>
        <p:nvSpPr>
          <p:cNvPr id="11" name="Text 8"/>
          <p:cNvSpPr txBox="1"/>
          <p:nvPr/>
        </p:nvSpPr>
        <p:spPr>
          <a:xfrm>
            <a:off x="8534095" y="1691640"/>
            <a:ext cx="2743200" cy="411480"/>
          </a:xfrm>
          <a:prstGeom prst="rect">
            <a:avLst/>
          </a:prstGeom>
          <a:noFill/>
          <a:ln/>
        </p:spPr>
        <p:txBody>
          <a:bodyPr wrap="square" lIns="0" tIns="0" rIns="0" bIns="0" rtlCol="0" anchor="t"/>
          <a:lstStyle/>
          <a:p>
            <a:pPr indent="0" marL="0">
              <a:buNone/>
            </a:pPr>
            <a:r>
              <a:rPr lang="en-US" sz="2000" b="1" dirty="0">
                <a:solidFill>
                  <a:srgbClr val="13294B"/>
                </a:solidFill>
              </a:rPr>
              <a:t>3  Stamp the cheapest</a:t>
            </a:r>
            <a:endParaRPr lang="en-US" sz="2000" dirty="0"/>
          </a:p>
        </p:txBody>
      </p:sp>
      <p:sp>
        <p:nvSpPr>
          <p:cNvPr id="12" name="Text 9"/>
          <p:cNvSpPr txBox="1"/>
          <p:nvPr/>
        </p:nvSpPr>
        <p:spPr>
          <a:xfrm>
            <a:off x="914400" y="2423160"/>
            <a:ext cx="2743200" cy="1005840"/>
          </a:xfrm>
          <a:prstGeom prst="rect">
            <a:avLst/>
          </a:prstGeom>
          <a:noFill/>
          <a:ln/>
        </p:spPr>
        <p:txBody>
          <a:bodyPr wrap="square" lIns="0" tIns="0" rIns="0" bIns="0" rtlCol="0" anchor="t"/>
          <a:lstStyle/>
          <a:p>
            <a:pPr indent="0" marL="0">
              <a:buNone/>
            </a:pPr>
            <a:r>
              <a:rPr lang="en-US" sz="6600" b="1" dirty="0">
                <a:solidFill>
                  <a:srgbClr val="1B2430"/>
                </a:solidFill>
              </a:rPr>
              <a:t>12.5%</a:t>
            </a:r>
            <a:endParaRPr lang="en-US" sz="6600" dirty="0"/>
          </a:p>
        </p:txBody>
      </p:sp>
      <p:sp>
        <p:nvSpPr>
          <p:cNvPr id="13" name="Text 10"/>
          <p:cNvSpPr txBox="1"/>
          <p:nvPr/>
        </p:nvSpPr>
        <p:spPr>
          <a:xfrm>
            <a:off x="914400" y="3566160"/>
            <a:ext cx="2743200" cy="914400"/>
          </a:xfrm>
          <a:prstGeom prst="rect">
            <a:avLst/>
          </a:prstGeom>
          <a:noFill/>
          <a:ln/>
        </p:spPr>
        <p:txBody>
          <a:bodyPr wrap="square" lIns="0" tIns="0" rIns="0" bIns="0" rtlCol="0" anchor="t"/>
          <a:lstStyle/>
          <a:p>
            <a:pPr indent="0" marL="0">
              <a:buNone/>
            </a:pPr>
            <a:r>
              <a:rPr lang="en-US" sz="1600" dirty="0">
                <a:solidFill>
                  <a:srgbClr val="3E4752"/>
                </a:solidFill>
              </a:rPr>
              <a:t>fraud risk, estimated by a model trained on past months</a:t>
            </a:r>
            <a:endParaRPr lang="en-US" sz="1600" dirty="0"/>
          </a:p>
        </p:txBody>
      </p:sp>
      <p:sp>
        <p:nvSpPr>
          <p:cNvPr id="14" name="slip-rule-0"/>
          <p:cNvSpPr/>
          <p:nvPr/>
        </p:nvSpPr>
        <p:spPr>
          <a:xfrm>
            <a:off x="4724248" y="2304288"/>
            <a:ext cx="2743200" cy="0"/>
          </a:xfrm>
          <a:prstGeom prst="line">
            <a:avLst/>
          </a:prstGeom>
          <a:noFill/>
          <a:ln w="9525">
            <a:solidFill>
              <a:srgbClr val="D6DBD0"/>
            </a:solidFill>
            <a:prstDash val="solid"/>
          </a:ln>
        </p:spPr>
      </p:sp>
      <p:sp>
        <p:nvSpPr>
          <p:cNvPr id="15" name="Text 12"/>
          <p:cNvSpPr txBox="1"/>
          <p:nvPr/>
        </p:nvSpPr>
        <p:spPr>
          <a:xfrm>
            <a:off x="4724248" y="2377440"/>
            <a:ext cx="1600200" cy="365760"/>
          </a:xfrm>
          <a:prstGeom prst="rect">
            <a:avLst/>
          </a:prstGeom>
          <a:noFill/>
          <a:ln/>
        </p:spPr>
        <p:txBody>
          <a:bodyPr wrap="square" lIns="0" tIns="0" rIns="0" bIns="0" rtlCol="0" anchor="t"/>
          <a:lstStyle/>
          <a:p>
            <a:pPr indent="0" marL="0">
              <a:buNone/>
            </a:pPr>
            <a:r>
              <a:rPr lang="en-US" sz="1500" dirty="0">
                <a:solidFill>
                  <a:srgbClr val="3E4752"/>
                </a:solidFill>
              </a:rPr>
              <a:t>Let it through</a:t>
            </a:r>
            <a:endParaRPr lang="en-US" sz="1500" dirty="0"/>
          </a:p>
        </p:txBody>
      </p:sp>
      <p:sp>
        <p:nvSpPr>
          <p:cNvPr id="16" name="slip-bar-0"/>
          <p:cNvSpPr/>
          <p:nvPr/>
        </p:nvSpPr>
        <p:spPr>
          <a:xfrm>
            <a:off x="4724248" y="2761488"/>
            <a:ext cx="1737360" cy="82296"/>
          </a:xfrm>
          <a:prstGeom prst="rect">
            <a:avLst/>
          </a:prstGeom>
          <a:solidFill>
            <a:srgbClr val="B8C0C9"/>
          </a:solidFill>
          <a:ln/>
        </p:spPr>
      </p:sp>
      <p:sp>
        <p:nvSpPr>
          <p:cNvPr id="17" name="Text 14"/>
          <p:cNvSpPr txBox="1"/>
          <p:nvPr/>
        </p:nvSpPr>
        <p:spPr>
          <a:xfrm>
            <a:off x="6370168" y="2377440"/>
            <a:ext cx="1097280" cy="365760"/>
          </a:xfrm>
          <a:prstGeom prst="rect">
            <a:avLst/>
          </a:prstGeom>
          <a:noFill/>
          <a:ln/>
        </p:spPr>
        <p:txBody>
          <a:bodyPr wrap="square" lIns="0" tIns="0" rIns="0" bIns="0" rtlCol="0" anchor="t"/>
          <a:lstStyle/>
          <a:p>
            <a:pPr algn="r" indent="0" marL="0">
              <a:buNone/>
            </a:pPr>
            <a:r>
              <a:rPr lang="en-US" sz="1500" dirty="0">
                <a:solidFill>
                  <a:srgbClr val="3E4752"/>
                </a:solidFill>
                <a:latin typeface="Consolas" pitchFamily="34" charset="0"/>
                <a:ea typeface="Consolas" pitchFamily="34" charset="-122"/>
                <a:cs typeface="Consolas" pitchFamily="34" charset="-120"/>
              </a:rPr>
              <a:t>0.2404</a:t>
            </a:r>
            <a:endParaRPr lang="en-US" sz="1500" dirty="0"/>
          </a:p>
        </p:txBody>
      </p:sp>
      <p:sp>
        <p:nvSpPr>
          <p:cNvPr id="18" name="slip-rule-1"/>
          <p:cNvSpPr/>
          <p:nvPr/>
        </p:nvSpPr>
        <p:spPr>
          <a:xfrm>
            <a:off x="4724248" y="2962656"/>
            <a:ext cx="2743200" cy="0"/>
          </a:xfrm>
          <a:prstGeom prst="line">
            <a:avLst/>
          </a:prstGeom>
          <a:noFill/>
          <a:ln w="9525">
            <a:solidFill>
              <a:srgbClr val="D6DBD0"/>
            </a:solidFill>
            <a:prstDash val="solid"/>
          </a:ln>
        </p:spPr>
      </p:sp>
      <p:sp>
        <p:nvSpPr>
          <p:cNvPr id="19" name="Text 16"/>
          <p:cNvSpPr txBox="1"/>
          <p:nvPr/>
        </p:nvSpPr>
        <p:spPr>
          <a:xfrm>
            <a:off x="4724248" y="3035808"/>
            <a:ext cx="1600200" cy="365760"/>
          </a:xfrm>
          <a:prstGeom prst="rect">
            <a:avLst/>
          </a:prstGeom>
          <a:noFill/>
          <a:ln/>
        </p:spPr>
        <p:txBody>
          <a:bodyPr wrap="square" lIns="0" tIns="0" rIns="0" bIns="0" rtlCol="0" anchor="t"/>
          <a:lstStyle/>
          <a:p>
            <a:pPr indent="0" marL="0">
              <a:buNone/>
            </a:pPr>
            <a:r>
              <a:rPr lang="en-US" sz="1500" b="1" dirty="0">
                <a:solidFill>
                  <a:srgbClr val="1B2430"/>
                </a:solidFill>
              </a:rPr>
              <a:t>Manual check</a:t>
            </a:r>
            <a:endParaRPr lang="en-US" sz="1500" dirty="0"/>
          </a:p>
        </p:txBody>
      </p:sp>
      <p:sp>
        <p:nvSpPr>
          <p:cNvPr id="20" name="slip-bar-1"/>
          <p:cNvSpPr/>
          <p:nvPr/>
        </p:nvSpPr>
        <p:spPr>
          <a:xfrm>
            <a:off x="4724248" y="3419856"/>
            <a:ext cx="416273" cy="82296"/>
          </a:xfrm>
          <a:prstGeom prst="rect">
            <a:avLst/>
          </a:prstGeom>
          <a:solidFill>
            <a:srgbClr val="A8660F"/>
          </a:solidFill>
          <a:ln/>
        </p:spPr>
      </p:sp>
      <p:sp>
        <p:nvSpPr>
          <p:cNvPr id="21" name="Text 18"/>
          <p:cNvSpPr txBox="1"/>
          <p:nvPr/>
        </p:nvSpPr>
        <p:spPr>
          <a:xfrm>
            <a:off x="6370168" y="3035808"/>
            <a:ext cx="1097280" cy="365760"/>
          </a:xfrm>
          <a:prstGeom prst="rect">
            <a:avLst/>
          </a:prstGeom>
          <a:noFill/>
          <a:ln/>
        </p:spPr>
        <p:txBody>
          <a:bodyPr wrap="square" lIns="0" tIns="0" rIns="0" bIns="0" rtlCol="0" anchor="t"/>
          <a:lstStyle/>
          <a:p>
            <a:pPr algn="r" indent="0" marL="0">
              <a:buNone/>
            </a:pPr>
            <a:r>
              <a:rPr lang="en-US" sz="1500" b="1" dirty="0">
                <a:solidFill>
                  <a:srgbClr val="1B2430"/>
                </a:solidFill>
                <a:latin typeface="Consolas" pitchFamily="34" charset="0"/>
                <a:ea typeface="Consolas" pitchFamily="34" charset="-122"/>
                <a:cs typeface="Consolas" pitchFamily="34" charset="-120"/>
              </a:rPr>
              <a:t>0.0576</a:t>
            </a:r>
            <a:endParaRPr lang="en-US" sz="1500" dirty="0"/>
          </a:p>
        </p:txBody>
      </p:sp>
      <p:sp>
        <p:nvSpPr>
          <p:cNvPr id="22" name="slip-rule-2"/>
          <p:cNvSpPr/>
          <p:nvPr/>
        </p:nvSpPr>
        <p:spPr>
          <a:xfrm>
            <a:off x="4724248" y="3621024"/>
            <a:ext cx="2743200" cy="0"/>
          </a:xfrm>
          <a:prstGeom prst="line">
            <a:avLst/>
          </a:prstGeom>
          <a:noFill/>
          <a:ln w="9525">
            <a:solidFill>
              <a:srgbClr val="D6DBD0"/>
            </a:solidFill>
            <a:prstDash val="solid"/>
          </a:ln>
        </p:spPr>
      </p:sp>
      <p:sp>
        <p:nvSpPr>
          <p:cNvPr id="23" name="Text 20"/>
          <p:cNvSpPr txBox="1"/>
          <p:nvPr/>
        </p:nvSpPr>
        <p:spPr>
          <a:xfrm>
            <a:off x="4724248" y="3694176"/>
            <a:ext cx="1600200" cy="365760"/>
          </a:xfrm>
          <a:prstGeom prst="rect">
            <a:avLst/>
          </a:prstGeom>
          <a:noFill/>
          <a:ln/>
        </p:spPr>
        <p:txBody>
          <a:bodyPr wrap="square" lIns="0" tIns="0" rIns="0" bIns="0" rtlCol="0" anchor="t"/>
          <a:lstStyle/>
          <a:p>
            <a:pPr indent="0" marL="0">
              <a:buNone/>
            </a:pPr>
            <a:r>
              <a:rPr lang="en-US" sz="1500" dirty="0">
                <a:solidFill>
                  <a:srgbClr val="3E4752"/>
                </a:solidFill>
              </a:rPr>
              <a:t>Block it</a:t>
            </a:r>
            <a:endParaRPr lang="en-US" sz="1500" dirty="0"/>
          </a:p>
        </p:txBody>
      </p:sp>
      <p:sp>
        <p:nvSpPr>
          <p:cNvPr id="24" name="slip-bar-2"/>
          <p:cNvSpPr/>
          <p:nvPr/>
        </p:nvSpPr>
        <p:spPr>
          <a:xfrm>
            <a:off x="4724248" y="4078224"/>
            <a:ext cx="632359" cy="82296"/>
          </a:xfrm>
          <a:prstGeom prst="rect">
            <a:avLst/>
          </a:prstGeom>
          <a:solidFill>
            <a:srgbClr val="B8C0C9"/>
          </a:solidFill>
          <a:ln/>
        </p:spPr>
      </p:sp>
      <p:sp>
        <p:nvSpPr>
          <p:cNvPr id="25" name="Text 22"/>
          <p:cNvSpPr txBox="1"/>
          <p:nvPr/>
        </p:nvSpPr>
        <p:spPr>
          <a:xfrm>
            <a:off x="6370168" y="3694176"/>
            <a:ext cx="1097280" cy="365760"/>
          </a:xfrm>
          <a:prstGeom prst="rect">
            <a:avLst/>
          </a:prstGeom>
          <a:noFill/>
          <a:ln/>
        </p:spPr>
        <p:txBody>
          <a:bodyPr wrap="square" lIns="0" tIns="0" rIns="0" bIns="0" rtlCol="0" anchor="t"/>
          <a:lstStyle/>
          <a:p>
            <a:pPr algn="r" indent="0" marL="0">
              <a:buNone/>
            </a:pPr>
            <a:r>
              <a:rPr lang="en-US" sz="1500" dirty="0">
                <a:solidFill>
                  <a:srgbClr val="3E4752"/>
                </a:solidFill>
                <a:latin typeface="Consolas" pitchFamily="34" charset="0"/>
                <a:ea typeface="Consolas" pitchFamily="34" charset="-122"/>
                <a:cs typeface="Consolas" pitchFamily="34" charset="-120"/>
              </a:rPr>
              <a:t>0.0875</a:t>
            </a:r>
            <a:endParaRPr lang="en-US" sz="1500" dirty="0"/>
          </a:p>
        </p:txBody>
      </p:sp>
      <p:sp>
        <p:nvSpPr>
          <p:cNvPr id="26" name="Text 23"/>
          <p:cNvSpPr txBox="1"/>
          <p:nvPr/>
        </p:nvSpPr>
        <p:spPr>
          <a:xfrm>
            <a:off x="4724248" y="4434840"/>
            <a:ext cx="2743200" cy="320040"/>
          </a:xfrm>
          <a:prstGeom prst="rect">
            <a:avLst/>
          </a:prstGeom>
          <a:noFill/>
          <a:ln/>
        </p:spPr>
        <p:txBody>
          <a:bodyPr wrap="square" lIns="0" tIns="0" rIns="0" bIns="0" rtlCol="0" anchor="t"/>
          <a:lstStyle/>
          <a:p>
            <a:pPr indent="0" marL="0">
              <a:buNone/>
            </a:pPr>
            <a:r>
              <a:rPr lang="en-US" sz="1300" dirty="0">
                <a:solidFill>
                  <a:srgbClr val="3E4752"/>
                </a:solidFill>
              </a:rPr>
              <a:t>expected loss, in cost units</a:t>
            </a:r>
            <a:endParaRPr lang="en-US" sz="1300" dirty="0"/>
          </a:p>
        </p:txBody>
      </p:sp>
      <p:sp>
        <p:nvSpPr>
          <p:cNvPr id="27" name="stamp-review-outer"/>
          <p:cNvSpPr/>
          <p:nvPr/>
        </p:nvSpPr>
        <p:spPr>
          <a:xfrm rot="-300000">
            <a:off x="8625535" y="2651760"/>
            <a:ext cx="2560320" cy="1051560"/>
          </a:xfrm>
          <a:prstGeom prst="roundRect">
            <a:avLst>
              <a:gd name="adj" fmla="val 6957"/>
            </a:avLst>
          </a:prstGeom>
          <a:solidFill>
            <a:srgbClr val="FFFFFF"/>
          </a:solidFill>
          <a:ln w="31750">
            <a:solidFill>
              <a:srgbClr val="A8660F"/>
            </a:solidFill>
            <a:prstDash val="solid"/>
          </a:ln>
        </p:spPr>
      </p:sp>
      <p:sp>
        <p:nvSpPr>
          <p:cNvPr id="28" name="stamp-review"/>
          <p:cNvSpPr/>
          <p:nvPr/>
        </p:nvSpPr>
        <p:spPr>
          <a:xfrm rot="-300000">
            <a:off x="8699144" y="2725369"/>
            <a:ext cx="2413102" cy="904342"/>
          </a:xfrm>
          <a:prstGeom prst="roundRect">
            <a:avLst>
              <a:gd name="adj" fmla="val 6067"/>
            </a:avLst>
          </a:prstGeom>
          <a:solidFill>
            <a:srgbClr val="FFFFFF"/>
          </a:solidFill>
          <a:ln w="12700">
            <a:solidFill>
              <a:srgbClr val="A8660F"/>
            </a:solidFill>
          </a:ln>
        </p:spPr>
        <p:txBody>
          <a:bodyPr wrap="square" lIns="0" tIns="0" rIns="0" bIns="0" rtlCol="0" anchor="ctr"/>
          <a:lstStyle/>
          <a:p>
            <a:pPr algn="ctr" indent="0" marL="0">
              <a:buNone/>
            </a:pPr>
            <a:r>
              <a:rPr lang="en-US" sz="2600" b="1" spc="300" kern="0" dirty="0">
                <a:solidFill>
                  <a:srgbClr val="A8660F"/>
                </a:solidFill>
                <a:latin typeface="Arial Narrow" pitchFamily="34" charset="0"/>
                <a:ea typeface="Arial Narrow" pitchFamily="34" charset="-122"/>
                <a:cs typeface="Arial Narrow" pitchFamily="34" charset="-120"/>
              </a:rPr>
              <a:t>FOR REVIEW</a:t>
            </a:r>
            <a:endParaRPr lang="en-US" sz="2600" dirty="0"/>
          </a:p>
          <a:p>
            <a:pPr algn="ctr" indent="0" marL="0">
              <a:buNone/>
            </a:pPr>
            <a:r>
              <a:rPr lang="en-US" sz="936" b="1" spc="300" kern="0" dirty="0">
                <a:solidFill>
                  <a:srgbClr val="A8660F"/>
                </a:solidFill>
                <a:latin typeface="Consolas" pitchFamily="34" charset="0"/>
                <a:ea typeface="Consolas" pitchFamily="34" charset="-122"/>
                <a:cs typeface="Consolas" pitchFamily="34" charset="-120"/>
              </a:rPr>
              <a:t>16 OCT 2026</a:t>
            </a:r>
            <a:endParaRPr lang="en-US" sz="2600" dirty="0"/>
          </a:p>
        </p:txBody>
      </p:sp>
      <p:sp>
        <p:nvSpPr>
          <p:cNvPr id="29" name="Text 26"/>
          <p:cNvSpPr txBox="1"/>
          <p:nvPr/>
        </p:nvSpPr>
        <p:spPr>
          <a:xfrm>
            <a:off x="8534095" y="4023360"/>
            <a:ext cx="2743200" cy="731520"/>
          </a:xfrm>
          <a:prstGeom prst="rect">
            <a:avLst/>
          </a:prstGeom>
          <a:noFill/>
          <a:ln/>
        </p:spPr>
        <p:txBody>
          <a:bodyPr wrap="square" lIns="0" tIns="0" rIns="0" bIns="0" rtlCol="0" anchor="t"/>
          <a:lstStyle/>
          <a:p>
            <a:pPr indent="0" marL="0">
              <a:buNone/>
            </a:pPr>
            <a:r>
              <a:rPr lang="en-US" sz="1600" dirty="0">
                <a:solidFill>
                  <a:srgbClr val="3E4752"/>
                </a:solidFill>
              </a:rPr>
              <a:t>The lowest expected loss wins. No fixed 50% cut-off.</a:t>
            </a:r>
            <a:endParaRPr lang="en-US" sz="1600" dirty="0"/>
          </a:p>
        </p:txBody>
      </p:sp>
      <p:sp>
        <p:nvSpPr>
          <p:cNvPr id="30" name="amount-callout"/>
          <p:cNvSpPr/>
          <p:nvPr/>
        </p:nvSpPr>
        <p:spPr>
          <a:xfrm>
            <a:off x="594360" y="5257800"/>
            <a:ext cx="11002975" cy="868680"/>
          </a:xfrm>
          <a:prstGeom prst="roundRect">
            <a:avLst>
              <a:gd name="adj" fmla="val 12632"/>
            </a:avLst>
          </a:prstGeom>
          <a:solidFill>
            <a:srgbClr val="FFFFFF"/>
          </a:solidFill>
          <a:ln w="9525">
            <a:solidFill>
              <a:srgbClr val="D6DBD0"/>
            </a:solidFill>
            <a:prstDash val="solid"/>
          </a:ln>
          <a:effectLst>
            <a:outerShdw sx="100000" sy="100000" kx="0" ky="0" algn="bl" rotWithShape="0" blurRad="76200" dist="25400" dir="5400000">
              <a:srgbClr val="0C1C36">
                <a:alpha val="8000"/>
              </a:srgbClr>
            </a:outerShdw>
          </a:effectLst>
        </p:spPr>
      </p:sp>
      <p:sp>
        <p:nvSpPr>
          <p:cNvPr id="31" name="Text 28"/>
          <p:cNvSpPr txBox="1"/>
          <p:nvPr/>
        </p:nvSpPr>
        <p:spPr>
          <a:xfrm>
            <a:off x="960120" y="5257800"/>
            <a:ext cx="10271455" cy="868680"/>
          </a:xfrm>
          <a:prstGeom prst="rect">
            <a:avLst/>
          </a:prstGeom>
          <a:noFill/>
          <a:ln/>
        </p:spPr>
        <p:txBody>
          <a:bodyPr wrap="square" lIns="0" tIns="0" rIns="0" bIns="0" rtlCol="0" anchor="ctr"/>
          <a:lstStyle/>
          <a:p>
            <a:pPr indent="0" marL="0">
              <a:buNone/>
            </a:pPr>
            <a:r>
              <a:rPr lang="en-US" sz="2000" dirty="0">
                <a:solidFill>
                  <a:srgbClr val="1B2430"/>
                </a:solidFill>
              </a:rPr>
              <a:t>Same risk, bigger credit limit  →  bigger possible loss  →  </a:t>
            </a:r>
            <a:pPr indent="0" marL="0">
              <a:buNone/>
            </a:pPr>
            <a:r>
              <a:rPr lang="en-US" sz="2000" b="1" dirty="0">
                <a:solidFill>
                  <a:srgbClr val="13294B"/>
                </a:solidFill>
              </a:rPr>
              <a:t>more caution</a:t>
            </a:r>
            <a:endParaRPr lang="en-US" sz="2000" dirty="0"/>
          </a:p>
        </p:txBody>
      </p:sp>
      <p:sp>
        <p:nvSpPr>
          <p:cNvPr id="25" name="Slide Number Placeholder 0"/>
          <p:cNvSpPr>
            <a:spLocks noGrp="1"/>
          </p:cNvSpPr>
          <p:nvPr>
            <p:ph type="sldNum" sz="quarter" idx="4294967295"/>
          </p:nvPr>
        </p:nvSpPr>
        <p:spPr>
          <a:xfrm>
            <a:off x="1104869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E475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94360" y="347472"/>
            <a:ext cx="11002975" cy="777240"/>
          </a:xfrm>
          <a:prstGeom prst="rect">
            <a:avLst/>
          </a:prstGeom>
          <a:noFill/>
          <a:ln/>
        </p:spPr>
        <p:txBody>
          <a:bodyPr wrap="square" lIns="0" tIns="0" rIns="0" bIns="0" rtlCol="0" anchor="ctr"/>
          <a:lstStyle/>
          <a:p>
            <a:pPr algn="l" indent="0" marL="0">
              <a:buNone/>
            </a:pPr>
            <a:r>
              <a:rPr lang="en-US" sz="3400" b="1" dirty="0">
                <a:solidFill>
                  <a:schemeClr val="tx2"/>
                </a:solidFill>
              </a:rPr>
              <a:t>How we tested it fairly</a:t>
            </a:r>
            <a:endParaRPr lang="en-US" sz="3400" dirty="0"/>
          </a:p>
        </p:txBody>
      </p:sp>
      <p:sp>
        <p:nvSpPr>
          <p:cNvPr id="4" name="Text 1"/>
          <p:cNvSpPr txBox="1"/>
          <p:nvPr/>
        </p:nvSpPr>
        <p:spPr>
          <a:xfrm>
            <a:off x="594360" y="1645920"/>
            <a:ext cx="1375372" cy="320040"/>
          </a:xfrm>
          <a:prstGeom prst="rect">
            <a:avLst/>
          </a:prstGeom>
          <a:noFill/>
          <a:ln/>
        </p:spPr>
        <p:txBody>
          <a:bodyPr wrap="square" lIns="0" tIns="0" rIns="0" bIns="0" rtlCol="0" anchor="t"/>
          <a:lstStyle/>
          <a:p>
            <a:pPr algn="ctr" indent="0" marL="0">
              <a:buNone/>
            </a:pPr>
            <a:r>
              <a:rPr lang="en-US" sz="1300" dirty="0">
                <a:solidFill>
                  <a:srgbClr val="3E4752"/>
                </a:solidFill>
              </a:rPr>
              <a:t>Month 0</a:t>
            </a:r>
            <a:endParaRPr lang="en-US" sz="1300" dirty="0"/>
          </a:p>
        </p:txBody>
      </p:sp>
      <p:sp>
        <p:nvSpPr>
          <p:cNvPr id="5" name="Text 2"/>
          <p:cNvSpPr txBox="1"/>
          <p:nvPr/>
        </p:nvSpPr>
        <p:spPr>
          <a:xfrm>
            <a:off x="1969732" y="1645920"/>
            <a:ext cx="1375372" cy="320040"/>
          </a:xfrm>
          <a:prstGeom prst="rect">
            <a:avLst/>
          </a:prstGeom>
          <a:noFill/>
          <a:ln/>
        </p:spPr>
        <p:txBody>
          <a:bodyPr wrap="square" lIns="0" tIns="0" rIns="0" bIns="0" rtlCol="0" anchor="t"/>
          <a:lstStyle/>
          <a:p>
            <a:pPr algn="ctr" indent="0" marL="0">
              <a:buNone/>
            </a:pPr>
            <a:r>
              <a:rPr lang="en-US" sz="1300" dirty="0">
                <a:solidFill>
                  <a:srgbClr val="3E4752"/>
                </a:solidFill>
              </a:rPr>
              <a:t>Month 1</a:t>
            </a:r>
            <a:endParaRPr lang="en-US" sz="1300" dirty="0"/>
          </a:p>
        </p:txBody>
      </p:sp>
      <p:sp>
        <p:nvSpPr>
          <p:cNvPr id="6" name="Text 3"/>
          <p:cNvSpPr txBox="1"/>
          <p:nvPr/>
        </p:nvSpPr>
        <p:spPr>
          <a:xfrm>
            <a:off x="3345104" y="1645920"/>
            <a:ext cx="1375372" cy="320040"/>
          </a:xfrm>
          <a:prstGeom prst="rect">
            <a:avLst/>
          </a:prstGeom>
          <a:noFill/>
          <a:ln/>
        </p:spPr>
        <p:txBody>
          <a:bodyPr wrap="square" lIns="0" tIns="0" rIns="0" bIns="0" rtlCol="0" anchor="t"/>
          <a:lstStyle/>
          <a:p>
            <a:pPr algn="ctr" indent="0" marL="0">
              <a:buNone/>
            </a:pPr>
            <a:r>
              <a:rPr lang="en-US" sz="1300" dirty="0">
                <a:solidFill>
                  <a:srgbClr val="3E4752"/>
                </a:solidFill>
              </a:rPr>
              <a:t>Month 2</a:t>
            </a:r>
            <a:endParaRPr lang="en-US" sz="1300" dirty="0"/>
          </a:p>
        </p:txBody>
      </p:sp>
      <p:sp>
        <p:nvSpPr>
          <p:cNvPr id="7" name="Text 4"/>
          <p:cNvSpPr txBox="1"/>
          <p:nvPr/>
        </p:nvSpPr>
        <p:spPr>
          <a:xfrm>
            <a:off x="4720476" y="1645920"/>
            <a:ext cx="1375372" cy="320040"/>
          </a:xfrm>
          <a:prstGeom prst="rect">
            <a:avLst/>
          </a:prstGeom>
          <a:noFill/>
          <a:ln/>
        </p:spPr>
        <p:txBody>
          <a:bodyPr wrap="square" lIns="0" tIns="0" rIns="0" bIns="0" rtlCol="0" anchor="t"/>
          <a:lstStyle/>
          <a:p>
            <a:pPr algn="ctr" indent="0" marL="0">
              <a:buNone/>
            </a:pPr>
            <a:r>
              <a:rPr lang="en-US" sz="1300" dirty="0">
                <a:solidFill>
                  <a:srgbClr val="3E4752"/>
                </a:solidFill>
              </a:rPr>
              <a:t>Month 3</a:t>
            </a:r>
            <a:endParaRPr lang="en-US" sz="1300" dirty="0"/>
          </a:p>
        </p:txBody>
      </p:sp>
      <p:sp>
        <p:nvSpPr>
          <p:cNvPr id="8" name="Text 5"/>
          <p:cNvSpPr txBox="1"/>
          <p:nvPr/>
        </p:nvSpPr>
        <p:spPr>
          <a:xfrm>
            <a:off x="6095848" y="1645920"/>
            <a:ext cx="1375372" cy="320040"/>
          </a:xfrm>
          <a:prstGeom prst="rect">
            <a:avLst/>
          </a:prstGeom>
          <a:noFill/>
          <a:ln/>
        </p:spPr>
        <p:txBody>
          <a:bodyPr wrap="square" lIns="0" tIns="0" rIns="0" bIns="0" rtlCol="0" anchor="t"/>
          <a:lstStyle/>
          <a:p>
            <a:pPr algn="ctr" indent="0" marL="0">
              <a:buNone/>
            </a:pPr>
            <a:r>
              <a:rPr lang="en-US" sz="1300" dirty="0">
                <a:solidFill>
                  <a:srgbClr val="3E4752"/>
                </a:solidFill>
              </a:rPr>
              <a:t>Month 4</a:t>
            </a:r>
            <a:endParaRPr lang="en-US" sz="1300" dirty="0"/>
          </a:p>
        </p:txBody>
      </p:sp>
      <p:sp>
        <p:nvSpPr>
          <p:cNvPr id="9" name="Text 6"/>
          <p:cNvSpPr txBox="1"/>
          <p:nvPr/>
        </p:nvSpPr>
        <p:spPr>
          <a:xfrm>
            <a:off x="7471219" y="1645920"/>
            <a:ext cx="1375372" cy="320040"/>
          </a:xfrm>
          <a:prstGeom prst="rect">
            <a:avLst/>
          </a:prstGeom>
          <a:noFill/>
          <a:ln/>
        </p:spPr>
        <p:txBody>
          <a:bodyPr wrap="square" lIns="0" tIns="0" rIns="0" bIns="0" rtlCol="0" anchor="t"/>
          <a:lstStyle/>
          <a:p>
            <a:pPr algn="ctr" indent="0" marL="0">
              <a:buNone/>
            </a:pPr>
            <a:r>
              <a:rPr lang="en-US" sz="1300" dirty="0">
                <a:solidFill>
                  <a:srgbClr val="3E4752"/>
                </a:solidFill>
              </a:rPr>
              <a:t>Month 5</a:t>
            </a:r>
            <a:endParaRPr lang="en-US" sz="1300" dirty="0"/>
          </a:p>
        </p:txBody>
      </p:sp>
      <p:sp>
        <p:nvSpPr>
          <p:cNvPr id="10" name="Text 7"/>
          <p:cNvSpPr txBox="1"/>
          <p:nvPr/>
        </p:nvSpPr>
        <p:spPr>
          <a:xfrm>
            <a:off x="8846591" y="1645920"/>
            <a:ext cx="1375372" cy="320040"/>
          </a:xfrm>
          <a:prstGeom prst="rect">
            <a:avLst/>
          </a:prstGeom>
          <a:noFill/>
          <a:ln/>
        </p:spPr>
        <p:txBody>
          <a:bodyPr wrap="square" lIns="0" tIns="0" rIns="0" bIns="0" rtlCol="0" anchor="t"/>
          <a:lstStyle/>
          <a:p>
            <a:pPr algn="ctr" indent="0" marL="0">
              <a:buNone/>
            </a:pPr>
            <a:r>
              <a:rPr lang="en-US" sz="1300" dirty="0">
                <a:solidFill>
                  <a:srgbClr val="3E4752"/>
                </a:solidFill>
              </a:rPr>
              <a:t>Month 6</a:t>
            </a:r>
            <a:endParaRPr lang="en-US" sz="1300" dirty="0"/>
          </a:p>
        </p:txBody>
      </p:sp>
      <p:sp>
        <p:nvSpPr>
          <p:cNvPr id="11" name="Text 8"/>
          <p:cNvSpPr txBox="1"/>
          <p:nvPr/>
        </p:nvSpPr>
        <p:spPr>
          <a:xfrm>
            <a:off x="10221963" y="1645920"/>
            <a:ext cx="1375372" cy="320040"/>
          </a:xfrm>
          <a:prstGeom prst="rect">
            <a:avLst/>
          </a:prstGeom>
          <a:noFill/>
          <a:ln/>
        </p:spPr>
        <p:txBody>
          <a:bodyPr wrap="square" lIns="0" tIns="0" rIns="0" bIns="0" rtlCol="0" anchor="t"/>
          <a:lstStyle/>
          <a:p>
            <a:pPr algn="ctr" indent="0" marL="0">
              <a:buNone/>
            </a:pPr>
            <a:r>
              <a:rPr lang="en-US" sz="1300" dirty="0">
                <a:solidFill>
                  <a:srgbClr val="3E4752"/>
                </a:solidFill>
              </a:rPr>
              <a:t>Month 7</a:t>
            </a:r>
            <a:endParaRPr lang="en-US" sz="1300" dirty="0"/>
          </a:p>
        </p:txBody>
      </p:sp>
      <p:sp>
        <p:nvSpPr>
          <p:cNvPr id="12" name="seg-0"/>
          <p:cNvSpPr/>
          <p:nvPr/>
        </p:nvSpPr>
        <p:spPr>
          <a:xfrm>
            <a:off x="621792" y="2057400"/>
            <a:ext cx="4071252" cy="868680"/>
          </a:xfrm>
          <a:prstGeom prst="rect">
            <a:avLst/>
          </a:prstGeom>
          <a:solidFill>
            <a:srgbClr val="13294B"/>
          </a:solidFill>
          <a:ln/>
        </p:spPr>
        <p:txBody>
          <a:bodyPr wrap="square" lIns="0" tIns="0" rIns="0" bIns="0" rtlCol="0" anchor="ctr"/>
          <a:lstStyle/>
          <a:p>
            <a:pPr algn="ctr" indent="0" marL="0">
              <a:buNone/>
            </a:pPr>
            <a:r>
              <a:rPr lang="en-US" sz="2000" b="1" dirty="0">
                <a:solidFill>
                  <a:srgbClr val="FFFFFF"/>
                </a:solidFill>
              </a:rPr>
              <a:t>Learn</a:t>
            </a:r>
            <a:endParaRPr lang="en-US" sz="2000" dirty="0"/>
          </a:p>
          <a:p>
            <a:pPr algn="ctr" indent="0" marL="0">
              <a:buNone/>
            </a:pPr>
            <a:r>
              <a:rPr lang="en-US" sz="1400" dirty="0">
                <a:solidFill>
                  <a:srgbClr val="FFFFFF"/>
                </a:solidFill>
              </a:rPr>
              <a:t>397,039 apps</a:t>
            </a:r>
            <a:endParaRPr lang="en-US" sz="2000" dirty="0"/>
          </a:p>
        </p:txBody>
      </p:sp>
      <p:sp>
        <p:nvSpPr>
          <p:cNvPr id="13" name="seg-1"/>
          <p:cNvSpPr/>
          <p:nvPr/>
        </p:nvSpPr>
        <p:spPr>
          <a:xfrm>
            <a:off x="4747908" y="2057400"/>
            <a:ext cx="2695880" cy="868680"/>
          </a:xfrm>
          <a:prstGeom prst="rect">
            <a:avLst/>
          </a:prstGeom>
          <a:solidFill>
            <a:srgbClr val="5B76A6"/>
          </a:solidFill>
          <a:ln/>
        </p:spPr>
        <p:txBody>
          <a:bodyPr wrap="square" lIns="0" tIns="0" rIns="0" bIns="0" rtlCol="0" anchor="ctr"/>
          <a:lstStyle/>
          <a:p>
            <a:pPr algn="ctr" indent="0" marL="0">
              <a:buNone/>
            </a:pPr>
            <a:r>
              <a:rPr lang="en-US" sz="2000" b="1" dirty="0">
                <a:solidFill>
                  <a:srgbClr val="FFFFFF"/>
                </a:solidFill>
              </a:rPr>
              <a:t>Tune</a:t>
            </a:r>
            <a:endParaRPr lang="en-US" sz="2000" dirty="0"/>
          </a:p>
          <a:p>
            <a:pPr algn="ctr" indent="0" marL="0">
              <a:buNone/>
            </a:pPr>
            <a:r>
              <a:rPr lang="en-US" sz="1400" dirty="0">
                <a:solidFill>
                  <a:srgbClr val="FFFFFF"/>
                </a:solidFill>
              </a:rPr>
              <a:t>278,627 apps</a:t>
            </a:r>
            <a:endParaRPr lang="en-US" sz="2000" dirty="0"/>
          </a:p>
        </p:txBody>
      </p:sp>
      <p:sp>
        <p:nvSpPr>
          <p:cNvPr id="14" name="seg-2"/>
          <p:cNvSpPr/>
          <p:nvPr/>
        </p:nvSpPr>
        <p:spPr>
          <a:xfrm>
            <a:off x="7498651" y="2057400"/>
            <a:ext cx="2695880" cy="868680"/>
          </a:xfrm>
          <a:prstGeom prst="rect">
            <a:avLst/>
          </a:prstGeom>
          <a:solidFill>
            <a:srgbClr val="1F55D6"/>
          </a:solidFill>
          <a:ln/>
        </p:spPr>
        <p:txBody>
          <a:bodyPr wrap="square" lIns="0" tIns="0" rIns="0" bIns="0" rtlCol="0" anchor="ctr"/>
          <a:lstStyle/>
          <a:p>
            <a:pPr algn="ctr" indent="0" marL="0">
              <a:buNone/>
            </a:pPr>
            <a:r>
              <a:rPr lang="en-US" sz="2000" b="1" dirty="0">
                <a:solidFill>
                  <a:srgbClr val="FFFFFF"/>
                </a:solidFill>
              </a:rPr>
              <a:t>Test once</a:t>
            </a:r>
            <a:endParaRPr lang="en-US" sz="2000" dirty="0"/>
          </a:p>
          <a:p>
            <a:pPr algn="ctr" indent="0" marL="0">
              <a:buNone/>
            </a:pPr>
            <a:r>
              <a:rPr lang="en-US" sz="1400" dirty="0">
                <a:solidFill>
                  <a:srgbClr val="FFFFFF"/>
                </a:solidFill>
              </a:rPr>
              <a:t>227,491 apps</a:t>
            </a:r>
            <a:endParaRPr lang="en-US" sz="2000" dirty="0"/>
          </a:p>
        </p:txBody>
      </p:sp>
      <p:sp>
        <p:nvSpPr>
          <p:cNvPr id="15" name="seg-3"/>
          <p:cNvSpPr/>
          <p:nvPr/>
        </p:nvSpPr>
        <p:spPr>
          <a:xfrm>
            <a:off x="10249395" y="2057400"/>
            <a:ext cx="1320508" cy="868680"/>
          </a:xfrm>
          <a:prstGeom prst="rect">
            <a:avLst/>
          </a:prstGeom>
          <a:solidFill>
            <a:srgbClr val="B8C0C9"/>
          </a:solidFill>
          <a:ln/>
        </p:spPr>
        <p:txBody>
          <a:bodyPr wrap="square" lIns="0" tIns="0" rIns="0" bIns="0" rtlCol="0" anchor="ctr"/>
          <a:lstStyle/>
          <a:p>
            <a:pPr algn="ctr" indent="0" marL="0">
              <a:buNone/>
            </a:pPr>
            <a:r>
              <a:rPr lang="en-US" sz="2000" b="1" dirty="0">
                <a:solidFill>
                  <a:srgbClr val="1B2430"/>
                </a:solidFill>
              </a:rPr>
              <a:t>Unknown</a:t>
            </a:r>
            <a:endParaRPr lang="en-US" sz="2000" dirty="0"/>
          </a:p>
          <a:p>
            <a:pPr algn="ctr" indent="0" marL="0">
              <a:buNone/>
            </a:pPr>
            <a:r>
              <a:rPr lang="en-US" sz="1400" dirty="0">
                <a:solidFill>
                  <a:srgbClr val="1B2430"/>
                </a:solidFill>
              </a:rPr>
              <a:t>96,843 apps</a:t>
            </a:r>
            <a:endParaRPr lang="en-US" sz="2000" dirty="0"/>
          </a:p>
        </p:txBody>
      </p:sp>
      <p:sp>
        <p:nvSpPr>
          <p:cNvPr id="16" name="Text 13"/>
          <p:cNvSpPr txBox="1"/>
          <p:nvPr/>
        </p:nvSpPr>
        <p:spPr>
          <a:xfrm>
            <a:off x="594360" y="3063240"/>
            <a:ext cx="11002975" cy="320040"/>
          </a:xfrm>
          <a:prstGeom prst="rect">
            <a:avLst/>
          </a:prstGeom>
          <a:noFill/>
          <a:ln/>
        </p:spPr>
        <p:txBody>
          <a:bodyPr wrap="square" lIns="0" tIns="0" rIns="0" bIns="0" rtlCol="0" anchor="t"/>
          <a:lstStyle/>
          <a:p>
            <a:pPr algn="ctr" indent="0" marL="0">
              <a:buNone/>
            </a:pPr>
            <a:r>
              <a:rPr lang="en-US" sz="1400" i="1" dirty="0">
                <a:solidFill>
                  <a:srgbClr val="3E4752"/>
                </a:solidFill>
              </a:rPr>
              <a:t>Time order kept, like real life: no shuffling</a:t>
            </a:r>
            <a:endParaRPr lang="en-US" sz="1400" dirty="0"/>
          </a:p>
        </p:txBody>
      </p:sp>
      <p:sp>
        <p:nvSpPr>
          <p:cNvPr id="17" name="fact-1"/>
          <p:cNvSpPr/>
          <p:nvPr/>
        </p:nvSpPr>
        <p:spPr>
          <a:xfrm>
            <a:off x="594360" y="3794760"/>
            <a:ext cx="3423818" cy="2011680"/>
          </a:xfrm>
          <a:prstGeom prst="roundRect">
            <a:avLst>
              <a:gd name="adj" fmla="val 5455"/>
            </a:avLst>
          </a:prstGeom>
          <a:solidFill>
            <a:srgbClr val="FFFFFF"/>
          </a:solidFill>
          <a:ln w="9525">
            <a:solidFill>
              <a:srgbClr val="D6DBD0"/>
            </a:solidFill>
            <a:prstDash val="solid"/>
          </a:ln>
          <a:effectLst>
            <a:outerShdw sx="100000" sy="100000" kx="0" ky="0" algn="bl" rotWithShape="0" blurRad="76200" dist="25400" dir="5400000">
              <a:srgbClr val="0C1C36">
                <a:alpha val="8000"/>
              </a:srgbClr>
            </a:outerShdw>
          </a:effectLst>
        </p:spPr>
      </p:sp>
      <p:sp>
        <p:nvSpPr>
          <p:cNvPr id="18" name="Text 15"/>
          <p:cNvSpPr txBox="1"/>
          <p:nvPr/>
        </p:nvSpPr>
        <p:spPr>
          <a:xfrm>
            <a:off x="914400" y="4069080"/>
            <a:ext cx="2783738" cy="731520"/>
          </a:xfrm>
          <a:prstGeom prst="rect">
            <a:avLst/>
          </a:prstGeom>
          <a:noFill/>
          <a:ln/>
        </p:spPr>
        <p:txBody>
          <a:bodyPr wrap="square" lIns="0" tIns="0" rIns="0" bIns="0" rtlCol="0" anchor="t"/>
          <a:lstStyle/>
          <a:p>
            <a:pPr indent="0" marL="0">
              <a:buNone/>
            </a:pPr>
            <a:r>
              <a:rPr lang="en-US" sz="3600" b="1" dirty="0">
                <a:solidFill>
                  <a:srgbClr val="13294B"/>
                </a:solidFill>
              </a:rPr>
              <a:t>1,000,000</a:t>
            </a:r>
            <a:endParaRPr lang="en-US" sz="3600" dirty="0"/>
          </a:p>
        </p:txBody>
      </p:sp>
      <p:sp>
        <p:nvSpPr>
          <p:cNvPr id="19" name="Text 16"/>
          <p:cNvSpPr txBox="1"/>
          <p:nvPr/>
        </p:nvSpPr>
        <p:spPr>
          <a:xfrm>
            <a:off x="914400" y="4846320"/>
            <a:ext cx="2783738" cy="822960"/>
          </a:xfrm>
          <a:prstGeom prst="rect">
            <a:avLst/>
          </a:prstGeom>
          <a:noFill/>
          <a:ln/>
        </p:spPr>
        <p:txBody>
          <a:bodyPr wrap="square" lIns="0" tIns="0" rIns="0" bIns="0" rtlCol="0" anchor="t"/>
          <a:lstStyle/>
          <a:p>
            <a:pPr indent="0" marL="0">
              <a:buNone/>
            </a:pPr>
            <a:r>
              <a:rPr lang="en-US" sz="1600" dirty="0">
                <a:solidFill>
                  <a:srgbClr val="3E4752"/>
                </a:solidFill>
              </a:rPr>
              <a:t>applications, Bank Account Fraud dataset (synthetic)</a:t>
            </a:r>
            <a:endParaRPr lang="en-US" sz="1600" dirty="0"/>
          </a:p>
        </p:txBody>
      </p:sp>
      <p:sp>
        <p:nvSpPr>
          <p:cNvPr id="20" name="fact-2"/>
          <p:cNvSpPr/>
          <p:nvPr/>
        </p:nvSpPr>
        <p:spPr>
          <a:xfrm>
            <a:off x="4383938" y="3794760"/>
            <a:ext cx="3423818" cy="2011680"/>
          </a:xfrm>
          <a:prstGeom prst="roundRect">
            <a:avLst>
              <a:gd name="adj" fmla="val 5455"/>
            </a:avLst>
          </a:prstGeom>
          <a:solidFill>
            <a:srgbClr val="FFFFFF"/>
          </a:solidFill>
          <a:ln w="9525">
            <a:solidFill>
              <a:srgbClr val="D6DBD0"/>
            </a:solidFill>
            <a:prstDash val="solid"/>
          </a:ln>
          <a:effectLst>
            <a:outerShdw sx="100000" sy="100000" kx="0" ky="0" algn="bl" rotWithShape="0" blurRad="76200" dist="25400" dir="5400000">
              <a:srgbClr val="0C1C36">
                <a:alpha val="8000"/>
              </a:srgbClr>
            </a:outerShdw>
          </a:effectLst>
        </p:spPr>
      </p:sp>
      <p:sp>
        <p:nvSpPr>
          <p:cNvPr id="21" name="Text 18"/>
          <p:cNvSpPr txBox="1"/>
          <p:nvPr/>
        </p:nvSpPr>
        <p:spPr>
          <a:xfrm>
            <a:off x="4703978" y="4069080"/>
            <a:ext cx="2783738" cy="731520"/>
          </a:xfrm>
          <a:prstGeom prst="rect">
            <a:avLst/>
          </a:prstGeom>
          <a:noFill/>
          <a:ln/>
        </p:spPr>
        <p:txBody>
          <a:bodyPr wrap="square" lIns="0" tIns="0" rIns="0" bIns="0" rtlCol="0" anchor="t"/>
          <a:lstStyle/>
          <a:p>
            <a:pPr indent="0" marL="0">
              <a:buNone/>
            </a:pPr>
            <a:r>
              <a:rPr lang="en-US" sz="3600" b="1" dirty="0">
                <a:solidFill>
                  <a:srgbClr val="13294B"/>
                </a:solidFill>
              </a:rPr>
              <a:t>1 month</a:t>
            </a:r>
            <a:endParaRPr lang="en-US" sz="3600" dirty="0"/>
          </a:p>
        </p:txBody>
      </p:sp>
      <p:sp>
        <p:nvSpPr>
          <p:cNvPr id="22" name="Text 19"/>
          <p:cNvSpPr txBox="1"/>
          <p:nvPr/>
        </p:nvSpPr>
        <p:spPr>
          <a:xfrm>
            <a:off x="4703978" y="4846320"/>
            <a:ext cx="2783738" cy="822960"/>
          </a:xfrm>
          <a:prstGeom prst="rect">
            <a:avLst/>
          </a:prstGeom>
          <a:noFill/>
          <a:ln/>
        </p:spPr>
        <p:txBody>
          <a:bodyPr wrap="square" lIns="0" tIns="0" rIns="0" bIns="0" rtlCol="0" anchor="t"/>
          <a:lstStyle/>
          <a:p>
            <a:pPr indent="0" marL="0">
              <a:buNone/>
            </a:pPr>
            <a:r>
              <a:rPr lang="en-US" sz="1600" dirty="0">
                <a:solidFill>
                  <a:srgbClr val="3E4752"/>
                </a:solidFill>
              </a:rPr>
              <a:t>late: fraud answers arrive one month after the decision</a:t>
            </a:r>
            <a:endParaRPr lang="en-US" sz="1600" dirty="0"/>
          </a:p>
        </p:txBody>
      </p:sp>
      <p:sp>
        <p:nvSpPr>
          <p:cNvPr id="23" name="fact-3"/>
          <p:cNvSpPr/>
          <p:nvPr/>
        </p:nvSpPr>
        <p:spPr>
          <a:xfrm>
            <a:off x="8173517" y="3794760"/>
            <a:ext cx="3423818" cy="2011680"/>
          </a:xfrm>
          <a:prstGeom prst="roundRect">
            <a:avLst>
              <a:gd name="adj" fmla="val 5455"/>
            </a:avLst>
          </a:prstGeom>
          <a:solidFill>
            <a:srgbClr val="FFFFFF"/>
          </a:solidFill>
          <a:ln w="9525">
            <a:solidFill>
              <a:srgbClr val="D6DBD0"/>
            </a:solidFill>
            <a:prstDash val="solid"/>
          </a:ln>
          <a:effectLst>
            <a:outerShdw sx="100000" sy="100000" kx="0" ky="0" algn="bl" rotWithShape="0" blurRad="76200" dist="25400" dir="5400000">
              <a:srgbClr val="0C1C36">
                <a:alpha val="8000"/>
              </a:srgbClr>
            </a:outerShdw>
          </a:effectLst>
        </p:spPr>
      </p:sp>
      <p:sp>
        <p:nvSpPr>
          <p:cNvPr id="24" name="Text 21"/>
          <p:cNvSpPr txBox="1"/>
          <p:nvPr/>
        </p:nvSpPr>
        <p:spPr>
          <a:xfrm>
            <a:off x="8493557" y="4069080"/>
            <a:ext cx="2783738" cy="731520"/>
          </a:xfrm>
          <a:prstGeom prst="rect">
            <a:avLst/>
          </a:prstGeom>
          <a:noFill/>
          <a:ln/>
        </p:spPr>
        <p:txBody>
          <a:bodyPr wrap="square" lIns="0" tIns="0" rIns="0" bIns="0" rtlCol="0" anchor="t"/>
          <a:lstStyle/>
          <a:p>
            <a:pPr indent="0" marL="0">
              <a:buNone/>
            </a:pPr>
            <a:r>
              <a:rPr lang="en-US" sz="3600" b="1" dirty="0">
                <a:solidFill>
                  <a:srgbClr val="13294B"/>
                </a:solidFill>
              </a:rPr>
              <a:t>9.68%</a:t>
            </a:r>
            <a:endParaRPr lang="en-US" sz="3600" dirty="0"/>
          </a:p>
        </p:txBody>
      </p:sp>
      <p:sp>
        <p:nvSpPr>
          <p:cNvPr id="25" name="Text 22"/>
          <p:cNvSpPr txBox="1"/>
          <p:nvPr/>
        </p:nvSpPr>
        <p:spPr>
          <a:xfrm>
            <a:off x="8493557" y="4846320"/>
            <a:ext cx="2783738" cy="822960"/>
          </a:xfrm>
          <a:prstGeom prst="rect">
            <a:avLst/>
          </a:prstGeom>
          <a:noFill/>
          <a:ln/>
        </p:spPr>
        <p:txBody>
          <a:bodyPr wrap="square" lIns="0" tIns="0" rIns="0" bIns="0" rtlCol="0" anchor="t"/>
          <a:lstStyle/>
          <a:p>
            <a:pPr indent="0" marL="0">
              <a:buNone/>
            </a:pPr>
            <a:r>
              <a:rPr lang="en-US" sz="1600" dirty="0">
                <a:solidFill>
                  <a:srgbClr val="3E4752"/>
                </a:solidFill>
              </a:rPr>
              <a:t>had no answer yet (month 7): set aside, not counted as safe</a:t>
            </a:r>
            <a:endParaRPr lang="en-US" sz="1600" dirty="0"/>
          </a:p>
        </p:txBody>
      </p:sp>
      <p:sp>
        <p:nvSpPr>
          <p:cNvPr id="25" name="Slide Number Placeholder 0"/>
          <p:cNvSpPr>
            <a:spLocks noGrp="1"/>
          </p:cNvSpPr>
          <p:nvPr>
            <p:ph type="sldNum" sz="quarter" idx="4294967295"/>
          </p:nvPr>
        </p:nvSpPr>
        <p:spPr>
          <a:xfrm>
            <a:off x="1104869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E475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94360" y="347472"/>
            <a:ext cx="11002975" cy="777240"/>
          </a:xfrm>
          <a:prstGeom prst="rect">
            <a:avLst/>
          </a:prstGeom>
          <a:noFill/>
          <a:ln/>
        </p:spPr>
        <p:txBody>
          <a:bodyPr wrap="square" lIns="0" tIns="0" rIns="0" bIns="0" rtlCol="0" anchor="ctr"/>
          <a:lstStyle/>
          <a:p>
            <a:pPr algn="l" indent="0" marL="0">
              <a:buNone/>
            </a:pPr>
            <a:r>
              <a:rPr lang="en-US" sz="3400" b="1" dirty="0">
                <a:solidFill>
                  <a:schemeClr val="tx2"/>
                </a:solidFill>
              </a:rPr>
              <a:t>The system: in, through, out</a:t>
            </a:r>
            <a:endParaRPr lang="en-US" sz="3400" dirty="0"/>
          </a:p>
        </p:txBody>
      </p:sp>
      <p:sp>
        <p:nvSpPr>
          <p:cNvPr id="4" name="system-in"/>
          <p:cNvSpPr/>
          <p:nvPr/>
        </p:nvSpPr>
        <p:spPr>
          <a:xfrm>
            <a:off x="594360" y="1463040"/>
            <a:ext cx="3246120" cy="4297680"/>
          </a:xfrm>
          <a:prstGeom prst="roundRect">
            <a:avLst>
              <a:gd name="adj" fmla="val 3380"/>
            </a:avLst>
          </a:prstGeom>
          <a:solidFill>
            <a:srgbClr val="FFFFFF"/>
          </a:solidFill>
          <a:ln w="9525">
            <a:solidFill>
              <a:srgbClr val="D6DBD0"/>
            </a:solidFill>
            <a:prstDash val="solid"/>
          </a:ln>
          <a:effectLst>
            <a:outerShdw sx="100000" sy="100000" kx="0" ky="0" algn="bl" rotWithShape="0" blurRad="76200" dist="25400" dir="5400000">
              <a:srgbClr val="0C1C36">
                <a:alpha val="8000"/>
              </a:srgbClr>
            </a:outerShdw>
          </a:effectLst>
        </p:spPr>
      </p:sp>
      <p:sp>
        <p:nvSpPr>
          <p:cNvPr id="5" name="Text 2"/>
          <p:cNvSpPr txBox="1"/>
          <p:nvPr/>
        </p:nvSpPr>
        <p:spPr>
          <a:xfrm>
            <a:off x="960120" y="1783080"/>
            <a:ext cx="2514600" cy="548640"/>
          </a:xfrm>
          <a:prstGeom prst="rect">
            <a:avLst/>
          </a:prstGeom>
          <a:noFill/>
          <a:ln/>
        </p:spPr>
        <p:txBody>
          <a:bodyPr wrap="square" lIns="0" tIns="0" rIns="0" bIns="0" rtlCol="0" anchor="t"/>
          <a:lstStyle/>
          <a:p>
            <a:pPr indent="0" marL="0">
              <a:buNone/>
            </a:pPr>
            <a:r>
              <a:rPr lang="en-US" sz="2800" b="1" dirty="0">
                <a:solidFill>
                  <a:srgbClr val="13294B"/>
                </a:solidFill>
              </a:rPr>
              <a:t>In</a:t>
            </a:r>
            <a:endParaRPr lang="en-US" sz="2800" dirty="0"/>
          </a:p>
        </p:txBody>
      </p:sp>
      <p:sp>
        <p:nvSpPr>
          <p:cNvPr id="6" name="sys-rule-0-0"/>
          <p:cNvSpPr/>
          <p:nvPr/>
        </p:nvSpPr>
        <p:spPr>
          <a:xfrm>
            <a:off x="960120" y="2514600"/>
            <a:ext cx="2514600" cy="0"/>
          </a:xfrm>
          <a:prstGeom prst="line">
            <a:avLst/>
          </a:prstGeom>
          <a:noFill/>
          <a:ln w="9525">
            <a:solidFill>
              <a:srgbClr val="D6DBD0"/>
            </a:solidFill>
            <a:prstDash val="solid"/>
          </a:ln>
        </p:spPr>
      </p:sp>
      <p:sp>
        <p:nvSpPr>
          <p:cNvPr id="7" name="Text 4"/>
          <p:cNvSpPr txBox="1"/>
          <p:nvPr/>
        </p:nvSpPr>
        <p:spPr>
          <a:xfrm>
            <a:off x="960120" y="2651760"/>
            <a:ext cx="2514600" cy="685800"/>
          </a:xfrm>
          <a:prstGeom prst="rect">
            <a:avLst/>
          </a:prstGeom>
          <a:noFill/>
          <a:ln/>
        </p:spPr>
        <p:txBody>
          <a:bodyPr wrap="square" lIns="0" tIns="0" rIns="0" bIns="0" rtlCol="0" anchor="t"/>
          <a:lstStyle/>
          <a:p>
            <a:pPr indent="0" marL="0">
              <a:buNone/>
            </a:pPr>
            <a:r>
              <a:rPr lang="en-US" sz="1800" dirty="0">
                <a:solidFill>
                  <a:srgbClr val="1B2430"/>
                </a:solidFill>
              </a:rPr>
              <a:t>Application details (28)</a:t>
            </a:r>
            <a:endParaRPr lang="en-US" sz="1800" dirty="0"/>
          </a:p>
        </p:txBody>
      </p:sp>
      <p:sp>
        <p:nvSpPr>
          <p:cNvPr id="8" name="sys-rule-0-1"/>
          <p:cNvSpPr/>
          <p:nvPr/>
        </p:nvSpPr>
        <p:spPr>
          <a:xfrm>
            <a:off x="960120" y="3474720"/>
            <a:ext cx="2514600" cy="0"/>
          </a:xfrm>
          <a:prstGeom prst="line">
            <a:avLst/>
          </a:prstGeom>
          <a:noFill/>
          <a:ln w="9525">
            <a:solidFill>
              <a:srgbClr val="D6DBD0"/>
            </a:solidFill>
            <a:prstDash val="solid"/>
          </a:ln>
        </p:spPr>
      </p:sp>
      <p:sp>
        <p:nvSpPr>
          <p:cNvPr id="9" name="Text 6"/>
          <p:cNvSpPr txBox="1"/>
          <p:nvPr/>
        </p:nvSpPr>
        <p:spPr>
          <a:xfrm>
            <a:off x="960120" y="3611880"/>
            <a:ext cx="2514600" cy="685800"/>
          </a:xfrm>
          <a:prstGeom prst="rect">
            <a:avLst/>
          </a:prstGeom>
          <a:noFill/>
          <a:ln/>
        </p:spPr>
        <p:txBody>
          <a:bodyPr wrap="square" lIns="0" tIns="0" rIns="0" bIns="0" rtlCol="0" anchor="t"/>
          <a:lstStyle/>
          <a:p>
            <a:pPr indent="0" marL="0">
              <a:buNone/>
            </a:pPr>
            <a:r>
              <a:rPr lang="en-US" sz="1800" dirty="0">
                <a:solidFill>
                  <a:srgbClr val="1B2430"/>
                </a:solidFill>
              </a:rPr>
              <a:t>Requested credit limit</a:t>
            </a:r>
            <a:endParaRPr lang="en-US" sz="1800" dirty="0"/>
          </a:p>
        </p:txBody>
      </p:sp>
      <p:sp>
        <p:nvSpPr>
          <p:cNvPr id="10" name="sys-rule-0-2"/>
          <p:cNvSpPr/>
          <p:nvPr/>
        </p:nvSpPr>
        <p:spPr>
          <a:xfrm>
            <a:off x="960120" y="4434840"/>
            <a:ext cx="2514600" cy="0"/>
          </a:xfrm>
          <a:prstGeom prst="line">
            <a:avLst/>
          </a:prstGeom>
          <a:noFill/>
          <a:ln w="9525">
            <a:solidFill>
              <a:srgbClr val="D6DBD0"/>
            </a:solidFill>
            <a:prstDash val="solid"/>
          </a:ln>
        </p:spPr>
      </p:sp>
      <p:sp>
        <p:nvSpPr>
          <p:cNvPr id="11" name="Text 8"/>
          <p:cNvSpPr txBox="1"/>
          <p:nvPr/>
        </p:nvSpPr>
        <p:spPr>
          <a:xfrm>
            <a:off x="960120" y="4572000"/>
            <a:ext cx="2514600" cy="685800"/>
          </a:xfrm>
          <a:prstGeom prst="rect">
            <a:avLst/>
          </a:prstGeom>
          <a:noFill/>
          <a:ln/>
        </p:spPr>
        <p:txBody>
          <a:bodyPr wrap="square" lIns="0" tIns="0" rIns="0" bIns="0" rtlCol="0" anchor="t"/>
          <a:lstStyle/>
          <a:p>
            <a:pPr indent="0" marL="0">
              <a:buNone/>
            </a:pPr>
            <a:r>
              <a:rPr lang="en-US" sz="1800" dirty="0">
                <a:solidFill>
                  <a:srgbClr val="1B2430"/>
                </a:solidFill>
              </a:rPr>
              <a:t>Fixed cost settings</a:t>
            </a:r>
            <a:endParaRPr lang="en-US" sz="1800" dirty="0"/>
          </a:p>
        </p:txBody>
      </p:sp>
      <p:sp>
        <p:nvSpPr>
          <p:cNvPr id="12" name="sys-arrow-0"/>
          <p:cNvSpPr/>
          <p:nvPr/>
        </p:nvSpPr>
        <p:spPr>
          <a:xfrm>
            <a:off x="3928034" y="3410712"/>
            <a:ext cx="457200" cy="402336"/>
          </a:xfrm>
          <a:prstGeom prst="rightArrow">
            <a:avLst/>
          </a:prstGeom>
          <a:solidFill>
            <a:srgbClr val="13294B"/>
          </a:solidFill>
          <a:ln w="12700">
            <a:solidFill>
              <a:srgbClr val="13294B"/>
            </a:solidFill>
            <a:prstDash val="solid"/>
          </a:ln>
        </p:spPr>
      </p:sp>
      <p:sp>
        <p:nvSpPr>
          <p:cNvPr id="13" name="system-through"/>
          <p:cNvSpPr/>
          <p:nvPr/>
        </p:nvSpPr>
        <p:spPr>
          <a:xfrm>
            <a:off x="4472788" y="1463040"/>
            <a:ext cx="3246120" cy="4297680"/>
          </a:xfrm>
          <a:prstGeom prst="roundRect">
            <a:avLst>
              <a:gd name="adj" fmla="val 3380"/>
            </a:avLst>
          </a:prstGeom>
          <a:solidFill>
            <a:srgbClr val="13294B"/>
          </a:solidFill>
          <a:ln w="9525">
            <a:solidFill>
              <a:srgbClr val="D6DBD0"/>
            </a:solidFill>
            <a:prstDash val="solid"/>
          </a:ln>
          <a:effectLst>
            <a:outerShdw sx="100000" sy="100000" kx="0" ky="0" algn="bl" rotWithShape="0" blurRad="76200" dist="25400" dir="5400000">
              <a:srgbClr val="0C1C36">
                <a:alpha val="8000"/>
              </a:srgbClr>
            </a:outerShdw>
          </a:effectLst>
        </p:spPr>
      </p:sp>
      <p:sp>
        <p:nvSpPr>
          <p:cNvPr id="14" name="Text 11"/>
          <p:cNvSpPr txBox="1"/>
          <p:nvPr/>
        </p:nvSpPr>
        <p:spPr>
          <a:xfrm>
            <a:off x="4838548" y="1783080"/>
            <a:ext cx="2514600" cy="548640"/>
          </a:xfrm>
          <a:prstGeom prst="rect">
            <a:avLst/>
          </a:prstGeom>
          <a:noFill/>
          <a:ln/>
        </p:spPr>
        <p:txBody>
          <a:bodyPr wrap="square" lIns="0" tIns="0" rIns="0" bIns="0" rtlCol="0" anchor="t"/>
          <a:lstStyle/>
          <a:p>
            <a:pPr indent="0" marL="0">
              <a:buNone/>
            </a:pPr>
            <a:r>
              <a:rPr lang="en-US" sz="2800" b="1" dirty="0">
                <a:solidFill>
                  <a:srgbClr val="FFFFFF"/>
                </a:solidFill>
              </a:rPr>
              <a:t>Through</a:t>
            </a:r>
            <a:endParaRPr lang="en-US" sz="2800" dirty="0"/>
          </a:p>
        </p:txBody>
      </p:sp>
      <p:sp>
        <p:nvSpPr>
          <p:cNvPr id="15" name="sys-rule-1-0"/>
          <p:cNvSpPr/>
          <p:nvPr/>
        </p:nvSpPr>
        <p:spPr>
          <a:xfrm>
            <a:off x="4838548" y="2514600"/>
            <a:ext cx="2514600" cy="0"/>
          </a:xfrm>
          <a:prstGeom prst="line">
            <a:avLst/>
          </a:prstGeom>
          <a:noFill/>
          <a:ln w="9525">
            <a:solidFill>
              <a:srgbClr val="3A5280"/>
            </a:solidFill>
            <a:prstDash val="solid"/>
          </a:ln>
        </p:spPr>
      </p:sp>
      <p:sp>
        <p:nvSpPr>
          <p:cNvPr id="16" name="Text 13"/>
          <p:cNvSpPr txBox="1"/>
          <p:nvPr/>
        </p:nvSpPr>
        <p:spPr>
          <a:xfrm>
            <a:off x="4838548" y="2651760"/>
            <a:ext cx="2514600" cy="685800"/>
          </a:xfrm>
          <a:prstGeom prst="rect">
            <a:avLst/>
          </a:prstGeom>
          <a:noFill/>
          <a:ln/>
        </p:spPr>
        <p:txBody>
          <a:bodyPr wrap="square" lIns="0" tIns="0" rIns="0" bIns="0" rtlCol="0" anchor="t"/>
          <a:lstStyle/>
          <a:p>
            <a:pPr indent="0" marL="0">
              <a:buNone/>
            </a:pPr>
            <a:r>
              <a:rPr lang="en-US" sz="1800" dirty="0">
                <a:solidFill>
                  <a:srgbClr val="FFFFFF"/>
                </a:solidFill>
              </a:rPr>
              <a:t>Risk model (Logistic Regression)</a:t>
            </a:r>
            <a:endParaRPr lang="en-US" sz="1800" dirty="0"/>
          </a:p>
        </p:txBody>
      </p:sp>
      <p:sp>
        <p:nvSpPr>
          <p:cNvPr id="17" name="sys-rule-1-1"/>
          <p:cNvSpPr/>
          <p:nvPr/>
        </p:nvSpPr>
        <p:spPr>
          <a:xfrm>
            <a:off x="4838548" y="3474720"/>
            <a:ext cx="2514600" cy="0"/>
          </a:xfrm>
          <a:prstGeom prst="line">
            <a:avLst/>
          </a:prstGeom>
          <a:noFill/>
          <a:ln w="9525">
            <a:solidFill>
              <a:srgbClr val="3A5280"/>
            </a:solidFill>
            <a:prstDash val="solid"/>
          </a:ln>
        </p:spPr>
      </p:sp>
      <p:sp>
        <p:nvSpPr>
          <p:cNvPr id="18" name="Text 15"/>
          <p:cNvSpPr txBox="1"/>
          <p:nvPr/>
        </p:nvSpPr>
        <p:spPr>
          <a:xfrm>
            <a:off x="4838548" y="3611880"/>
            <a:ext cx="2514600" cy="685800"/>
          </a:xfrm>
          <a:prstGeom prst="rect">
            <a:avLst/>
          </a:prstGeom>
          <a:noFill/>
          <a:ln/>
        </p:spPr>
        <p:txBody>
          <a:bodyPr wrap="square" lIns="0" tIns="0" rIns="0" bIns="0" rtlCol="0" anchor="t"/>
          <a:lstStyle/>
          <a:p>
            <a:pPr indent="0" marL="0">
              <a:buNone/>
            </a:pPr>
            <a:r>
              <a:rPr lang="en-US" sz="1800" dirty="0">
                <a:solidFill>
                  <a:srgbClr val="FFFFFF"/>
                </a:solidFill>
              </a:rPr>
              <a:t>Price the three options</a:t>
            </a:r>
            <a:endParaRPr lang="en-US" sz="1800" dirty="0"/>
          </a:p>
        </p:txBody>
      </p:sp>
      <p:sp>
        <p:nvSpPr>
          <p:cNvPr id="19" name="sys-rule-1-2"/>
          <p:cNvSpPr/>
          <p:nvPr/>
        </p:nvSpPr>
        <p:spPr>
          <a:xfrm>
            <a:off x="4838548" y="4434840"/>
            <a:ext cx="2514600" cy="0"/>
          </a:xfrm>
          <a:prstGeom prst="line">
            <a:avLst/>
          </a:prstGeom>
          <a:noFill/>
          <a:ln w="9525">
            <a:solidFill>
              <a:srgbClr val="3A5280"/>
            </a:solidFill>
            <a:prstDash val="solid"/>
          </a:ln>
        </p:spPr>
      </p:sp>
      <p:sp>
        <p:nvSpPr>
          <p:cNvPr id="20" name="Text 17"/>
          <p:cNvSpPr txBox="1"/>
          <p:nvPr/>
        </p:nvSpPr>
        <p:spPr>
          <a:xfrm>
            <a:off x="4838548" y="4572000"/>
            <a:ext cx="2514600" cy="685800"/>
          </a:xfrm>
          <a:prstGeom prst="rect">
            <a:avLst/>
          </a:prstGeom>
          <a:noFill/>
          <a:ln/>
        </p:spPr>
        <p:txBody>
          <a:bodyPr wrap="square" lIns="0" tIns="0" rIns="0" bIns="0" rtlCol="0" anchor="t"/>
          <a:lstStyle/>
          <a:p>
            <a:pPr indent="0" marL="0">
              <a:buNone/>
            </a:pPr>
            <a:r>
              <a:rPr lang="en-US" sz="1800" dirty="0">
                <a:solidFill>
                  <a:srgbClr val="FFFFFF"/>
                </a:solidFill>
              </a:rPr>
              <a:t>Pick the cheapest</a:t>
            </a:r>
            <a:endParaRPr lang="en-US" sz="1800" dirty="0"/>
          </a:p>
        </p:txBody>
      </p:sp>
      <p:sp>
        <p:nvSpPr>
          <p:cNvPr id="21" name="sys-arrow-1"/>
          <p:cNvSpPr/>
          <p:nvPr/>
        </p:nvSpPr>
        <p:spPr>
          <a:xfrm>
            <a:off x="7806461" y="3410712"/>
            <a:ext cx="457200" cy="402336"/>
          </a:xfrm>
          <a:prstGeom prst="rightArrow">
            <a:avLst/>
          </a:prstGeom>
          <a:solidFill>
            <a:srgbClr val="13294B"/>
          </a:solidFill>
          <a:ln w="12700">
            <a:solidFill>
              <a:srgbClr val="13294B"/>
            </a:solidFill>
            <a:prstDash val="solid"/>
          </a:ln>
        </p:spPr>
      </p:sp>
      <p:sp>
        <p:nvSpPr>
          <p:cNvPr id="22" name="system-out"/>
          <p:cNvSpPr/>
          <p:nvPr/>
        </p:nvSpPr>
        <p:spPr>
          <a:xfrm>
            <a:off x="8351215" y="1463040"/>
            <a:ext cx="3246120" cy="4297680"/>
          </a:xfrm>
          <a:prstGeom prst="roundRect">
            <a:avLst>
              <a:gd name="adj" fmla="val 3380"/>
            </a:avLst>
          </a:prstGeom>
          <a:solidFill>
            <a:srgbClr val="FFFFFF"/>
          </a:solidFill>
          <a:ln w="9525">
            <a:solidFill>
              <a:srgbClr val="D6DBD0"/>
            </a:solidFill>
            <a:prstDash val="solid"/>
          </a:ln>
          <a:effectLst>
            <a:outerShdw sx="100000" sy="100000" kx="0" ky="0" algn="bl" rotWithShape="0" blurRad="76200" dist="25400" dir="5400000">
              <a:srgbClr val="0C1C36">
                <a:alpha val="8000"/>
              </a:srgbClr>
            </a:outerShdw>
          </a:effectLst>
        </p:spPr>
      </p:sp>
      <p:sp>
        <p:nvSpPr>
          <p:cNvPr id="23" name="Text 20"/>
          <p:cNvSpPr txBox="1"/>
          <p:nvPr/>
        </p:nvSpPr>
        <p:spPr>
          <a:xfrm>
            <a:off x="8716975" y="1783080"/>
            <a:ext cx="2514600" cy="548640"/>
          </a:xfrm>
          <a:prstGeom prst="rect">
            <a:avLst/>
          </a:prstGeom>
          <a:noFill/>
          <a:ln/>
        </p:spPr>
        <p:txBody>
          <a:bodyPr wrap="square" lIns="0" tIns="0" rIns="0" bIns="0" rtlCol="0" anchor="t"/>
          <a:lstStyle/>
          <a:p>
            <a:pPr indent="0" marL="0">
              <a:buNone/>
            </a:pPr>
            <a:r>
              <a:rPr lang="en-US" sz="2800" b="1" dirty="0">
                <a:solidFill>
                  <a:srgbClr val="13294B"/>
                </a:solidFill>
              </a:rPr>
              <a:t>Out</a:t>
            </a:r>
            <a:endParaRPr lang="en-US" sz="2800" dirty="0"/>
          </a:p>
        </p:txBody>
      </p:sp>
      <p:sp>
        <p:nvSpPr>
          <p:cNvPr id="24" name="sys-rule-2-0"/>
          <p:cNvSpPr/>
          <p:nvPr/>
        </p:nvSpPr>
        <p:spPr>
          <a:xfrm>
            <a:off x="8716975" y="2514600"/>
            <a:ext cx="2514600" cy="0"/>
          </a:xfrm>
          <a:prstGeom prst="line">
            <a:avLst/>
          </a:prstGeom>
          <a:noFill/>
          <a:ln w="9525">
            <a:solidFill>
              <a:srgbClr val="D6DBD0"/>
            </a:solidFill>
            <a:prstDash val="solid"/>
          </a:ln>
        </p:spPr>
      </p:sp>
      <p:sp>
        <p:nvSpPr>
          <p:cNvPr id="25" name="Text 22"/>
          <p:cNvSpPr txBox="1"/>
          <p:nvPr/>
        </p:nvSpPr>
        <p:spPr>
          <a:xfrm>
            <a:off x="8716975" y="2651760"/>
            <a:ext cx="2514600" cy="685800"/>
          </a:xfrm>
          <a:prstGeom prst="rect">
            <a:avLst/>
          </a:prstGeom>
          <a:noFill/>
          <a:ln/>
        </p:spPr>
        <p:txBody>
          <a:bodyPr wrap="square" lIns="0" tIns="0" rIns="0" bIns="0" rtlCol="0" anchor="t"/>
          <a:lstStyle/>
          <a:p>
            <a:pPr indent="0" marL="0">
              <a:buNone/>
            </a:pPr>
            <a:r>
              <a:rPr lang="en-US" sz="1800" dirty="0">
                <a:solidFill>
                  <a:srgbClr val="1B2430"/>
                </a:solidFill>
              </a:rPr>
              <a:t>Fraud risk %</a:t>
            </a:r>
            <a:endParaRPr lang="en-US" sz="1800" dirty="0"/>
          </a:p>
        </p:txBody>
      </p:sp>
      <p:sp>
        <p:nvSpPr>
          <p:cNvPr id="26" name="sys-rule-2-1"/>
          <p:cNvSpPr/>
          <p:nvPr/>
        </p:nvSpPr>
        <p:spPr>
          <a:xfrm>
            <a:off x="8716975" y="3474720"/>
            <a:ext cx="2514600" cy="0"/>
          </a:xfrm>
          <a:prstGeom prst="line">
            <a:avLst/>
          </a:prstGeom>
          <a:noFill/>
          <a:ln w="9525">
            <a:solidFill>
              <a:srgbClr val="D6DBD0"/>
            </a:solidFill>
            <a:prstDash val="solid"/>
          </a:ln>
        </p:spPr>
      </p:sp>
      <p:sp>
        <p:nvSpPr>
          <p:cNvPr id="27" name="Text 24"/>
          <p:cNvSpPr txBox="1"/>
          <p:nvPr/>
        </p:nvSpPr>
        <p:spPr>
          <a:xfrm>
            <a:off x="8716975" y="3611880"/>
            <a:ext cx="2514600" cy="685800"/>
          </a:xfrm>
          <a:prstGeom prst="rect">
            <a:avLst/>
          </a:prstGeom>
          <a:noFill/>
          <a:ln/>
        </p:spPr>
        <p:txBody>
          <a:bodyPr wrap="square" lIns="0" tIns="0" rIns="0" bIns="0" rtlCol="0" anchor="t"/>
          <a:lstStyle/>
          <a:p>
            <a:pPr indent="0" marL="0">
              <a:buNone/>
            </a:pPr>
            <a:r>
              <a:rPr lang="en-US" sz="1800" dirty="0">
                <a:solidFill>
                  <a:srgbClr val="1B2430"/>
                </a:solidFill>
              </a:rPr>
              <a:t>Stamp: approve / review / block</a:t>
            </a:r>
            <a:endParaRPr lang="en-US" sz="1800" dirty="0"/>
          </a:p>
        </p:txBody>
      </p:sp>
      <p:sp>
        <p:nvSpPr>
          <p:cNvPr id="28" name="sys-rule-2-2"/>
          <p:cNvSpPr/>
          <p:nvPr/>
        </p:nvSpPr>
        <p:spPr>
          <a:xfrm>
            <a:off x="8716975" y="4434840"/>
            <a:ext cx="2514600" cy="0"/>
          </a:xfrm>
          <a:prstGeom prst="line">
            <a:avLst/>
          </a:prstGeom>
          <a:noFill/>
          <a:ln w="9525">
            <a:solidFill>
              <a:srgbClr val="D6DBD0"/>
            </a:solidFill>
            <a:prstDash val="solid"/>
          </a:ln>
        </p:spPr>
      </p:sp>
      <p:sp>
        <p:nvSpPr>
          <p:cNvPr id="29" name="Text 26"/>
          <p:cNvSpPr txBox="1"/>
          <p:nvPr/>
        </p:nvSpPr>
        <p:spPr>
          <a:xfrm>
            <a:off x="8716975" y="4572000"/>
            <a:ext cx="2514600" cy="685800"/>
          </a:xfrm>
          <a:prstGeom prst="rect">
            <a:avLst/>
          </a:prstGeom>
          <a:noFill/>
          <a:ln/>
        </p:spPr>
        <p:txBody>
          <a:bodyPr wrap="square" lIns="0" tIns="0" rIns="0" bIns="0" rtlCol="0" anchor="t"/>
          <a:lstStyle/>
          <a:p>
            <a:pPr indent="0" marL="0">
              <a:buNone/>
            </a:pPr>
            <a:r>
              <a:rPr lang="en-US" sz="1800" dirty="0">
                <a:solidFill>
                  <a:srgbClr val="1B2430"/>
                </a:solidFill>
              </a:rPr>
              <a:t>Reason, worklist, CSV download</a:t>
            </a:r>
            <a:endParaRPr lang="en-US" sz="1800" dirty="0"/>
          </a:p>
        </p:txBody>
      </p:sp>
      <p:sp>
        <p:nvSpPr>
          <p:cNvPr id="25" name="Slide Number Placeholder 0"/>
          <p:cNvSpPr>
            <a:spLocks noGrp="1"/>
          </p:cNvSpPr>
          <p:nvPr>
            <p:ph type="sldNum" sz="quarter" idx="4294967295"/>
          </p:nvPr>
        </p:nvSpPr>
        <p:spPr>
          <a:xfrm>
            <a:off x="1104869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E475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94360" y="347472"/>
            <a:ext cx="11002975" cy="777240"/>
          </a:xfrm>
          <a:prstGeom prst="rect">
            <a:avLst/>
          </a:prstGeom>
          <a:noFill/>
          <a:ln/>
        </p:spPr>
        <p:txBody>
          <a:bodyPr wrap="square" lIns="0" tIns="0" rIns="0" bIns="0" rtlCol="0" anchor="ctr"/>
          <a:lstStyle/>
          <a:p>
            <a:pPr algn="l" indent="0" marL="0">
              <a:buNone/>
            </a:pPr>
            <a:r>
              <a:rPr lang="en-US" sz="3400" b="1" dirty="0">
                <a:solidFill>
                  <a:schemeClr val="tx2"/>
                </a:solidFill>
              </a:rPr>
              <a:t>Live demo</a:t>
            </a:r>
            <a:endParaRPr lang="en-US" sz="3400" dirty="0"/>
          </a:p>
        </p:txBody>
      </p:sp>
      <p:sp>
        <p:nvSpPr>
          <p:cNvPr id="4" name="demo-frame"/>
          <p:cNvSpPr/>
          <p:nvPr/>
        </p:nvSpPr>
        <p:spPr>
          <a:xfrm>
            <a:off x="548640" y="1280160"/>
            <a:ext cx="7315200" cy="4786884"/>
          </a:xfrm>
          <a:prstGeom prst="roundRect">
            <a:avLst>
              <a:gd name="adj" fmla="val 1910"/>
            </a:avLst>
          </a:prstGeom>
          <a:solidFill>
            <a:srgbClr val="FFFFFF"/>
          </a:solidFill>
          <a:ln w="9525">
            <a:solidFill>
              <a:srgbClr val="D6DBD0"/>
            </a:solidFill>
            <a:prstDash val="solid"/>
          </a:ln>
          <a:effectLst>
            <a:outerShdw sx="100000" sy="100000" kx="0" ky="0" algn="bl" rotWithShape="0" blurRad="101600" dist="38100" dir="5400000">
              <a:srgbClr val="0C1C36">
                <a:alpha val="12000"/>
              </a:srgbClr>
            </a:outerShdw>
          </a:effectLst>
        </p:spPr>
      </p:sp>
      <p:pic>
        <p:nvPicPr>
          <p:cNvPr id="5" name="demo-shot" descr="App screenshot: an application stamped FOR REVIEW after raising the credit limit to 1,000">    </p:cNvPr>
          <p:cNvPicPr>
            <a:picLocks noChangeAspect="1"/>
          </p:cNvPicPr>
          <p:nvPr/>
        </p:nvPicPr>
        <p:blipFill>
          <a:blip r:embed="rId1"/>
          <a:stretch>
            <a:fillRect/>
          </a:stretch>
        </p:blipFill>
        <p:spPr>
          <a:xfrm>
            <a:off x="594360" y="1325880"/>
            <a:ext cx="7223760" cy="4695444"/>
          </a:xfrm>
          <a:prstGeom prst="rect">
            <a:avLst/>
          </a:prstGeom>
        </p:spPr>
      </p:pic>
      <p:sp>
        <p:nvSpPr>
          <p:cNvPr id="6" name="step-1"/>
          <p:cNvSpPr/>
          <p:nvPr/>
        </p:nvSpPr>
        <p:spPr>
          <a:xfrm>
            <a:off x="8229600" y="1417320"/>
            <a:ext cx="438912" cy="438912"/>
          </a:xfrm>
          <a:prstGeom prst="ellipse">
            <a:avLst/>
          </a:prstGeom>
          <a:solidFill>
            <a:srgbClr val="13294B"/>
          </a:solid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7" name="Text 3"/>
          <p:cNvSpPr txBox="1"/>
          <p:nvPr/>
        </p:nvSpPr>
        <p:spPr>
          <a:xfrm>
            <a:off x="8823960" y="1371600"/>
            <a:ext cx="2773375" cy="347472"/>
          </a:xfrm>
          <a:prstGeom prst="rect">
            <a:avLst/>
          </a:prstGeom>
          <a:noFill/>
          <a:ln/>
        </p:spPr>
        <p:txBody>
          <a:bodyPr wrap="square" lIns="0" tIns="0" rIns="0" bIns="0" rtlCol="0" anchor="t"/>
          <a:lstStyle/>
          <a:p>
            <a:pPr indent="0" marL="0">
              <a:buNone/>
            </a:pPr>
            <a:r>
              <a:rPr lang="en-US" sz="1700" b="1" dirty="0">
                <a:solidFill>
                  <a:srgbClr val="1B2430"/>
                </a:solidFill>
              </a:rPr>
              <a:t>Everyday</a:t>
            </a:r>
            <a:endParaRPr lang="en-US" sz="1700" dirty="0"/>
          </a:p>
        </p:txBody>
      </p:sp>
      <p:sp>
        <p:nvSpPr>
          <p:cNvPr id="8" name="Text 4"/>
          <p:cNvSpPr txBox="1"/>
          <p:nvPr/>
        </p:nvSpPr>
        <p:spPr>
          <a:xfrm>
            <a:off x="8823960" y="1719072"/>
            <a:ext cx="2773375" cy="329184"/>
          </a:xfrm>
          <a:prstGeom prst="rect">
            <a:avLst/>
          </a:prstGeom>
          <a:noFill/>
          <a:ln/>
        </p:spPr>
        <p:txBody>
          <a:bodyPr wrap="square" lIns="0" tIns="0" rIns="0" bIns="0" rtlCol="0" anchor="t"/>
          <a:lstStyle/>
          <a:p>
            <a:pPr indent="0" marL="0">
              <a:buNone/>
            </a:pPr>
            <a:r>
              <a:rPr lang="en-US" sz="1400" b="1" spc="200" kern="0" dirty="0">
                <a:solidFill>
                  <a:srgbClr val="1E7A46"/>
                </a:solidFill>
                <a:latin typeface="Arial Narrow" pitchFamily="34" charset="0"/>
                <a:ea typeface="Arial Narrow" pitchFamily="34" charset="-122"/>
                <a:cs typeface="Arial Narrow" pitchFamily="34" charset="-120"/>
              </a:rPr>
              <a:t>APPROVED</a:t>
            </a:r>
            <a:pPr indent="0" marL="0">
              <a:buNone/>
            </a:pPr>
            <a:r>
              <a:rPr lang="en-US" sz="1400" dirty="0">
                <a:solidFill>
                  <a:srgbClr val="3E4752"/>
                </a:solidFill>
              </a:rPr>
              <a:t>  1.3% risk</a:t>
            </a:r>
            <a:endParaRPr lang="en-US" sz="1400" dirty="0"/>
          </a:p>
        </p:txBody>
      </p:sp>
      <p:sp>
        <p:nvSpPr>
          <p:cNvPr id="9" name="step-2"/>
          <p:cNvSpPr/>
          <p:nvPr/>
        </p:nvSpPr>
        <p:spPr>
          <a:xfrm>
            <a:off x="8229600" y="2240280"/>
            <a:ext cx="438912" cy="438912"/>
          </a:xfrm>
          <a:prstGeom prst="ellipse">
            <a:avLst/>
          </a:prstGeom>
          <a:solidFill>
            <a:srgbClr val="13294B"/>
          </a:solid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0" name="Text 6"/>
          <p:cNvSpPr txBox="1"/>
          <p:nvPr/>
        </p:nvSpPr>
        <p:spPr>
          <a:xfrm>
            <a:off x="8823960" y="2194560"/>
            <a:ext cx="2773375" cy="347472"/>
          </a:xfrm>
          <a:prstGeom prst="rect">
            <a:avLst/>
          </a:prstGeom>
          <a:noFill/>
          <a:ln/>
        </p:spPr>
        <p:txBody>
          <a:bodyPr wrap="square" lIns="0" tIns="0" rIns="0" bIns="0" rtlCol="0" anchor="t"/>
          <a:lstStyle/>
          <a:p>
            <a:pPr indent="0" marL="0">
              <a:buNone/>
            </a:pPr>
            <a:r>
              <a:rPr lang="en-US" sz="1700" b="1" dirty="0">
                <a:solidFill>
                  <a:srgbClr val="1B2430"/>
                </a:solidFill>
              </a:rPr>
              <a:t>Unusual, limit 200</a:t>
            </a:r>
            <a:endParaRPr lang="en-US" sz="1700" dirty="0"/>
          </a:p>
        </p:txBody>
      </p:sp>
      <p:sp>
        <p:nvSpPr>
          <p:cNvPr id="11" name="Text 7"/>
          <p:cNvSpPr txBox="1"/>
          <p:nvPr/>
        </p:nvSpPr>
        <p:spPr>
          <a:xfrm>
            <a:off x="8823960" y="2542032"/>
            <a:ext cx="2773375" cy="329184"/>
          </a:xfrm>
          <a:prstGeom prst="rect">
            <a:avLst/>
          </a:prstGeom>
          <a:noFill/>
          <a:ln/>
        </p:spPr>
        <p:txBody>
          <a:bodyPr wrap="square" lIns="0" tIns="0" rIns="0" bIns="0" rtlCol="0" anchor="t"/>
          <a:lstStyle/>
          <a:p>
            <a:pPr indent="0" marL="0">
              <a:buNone/>
            </a:pPr>
            <a:r>
              <a:rPr lang="en-US" sz="1400" b="1" spc="200" kern="0" dirty="0">
                <a:solidFill>
                  <a:srgbClr val="1E7A46"/>
                </a:solidFill>
                <a:latin typeface="Arial Narrow" pitchFamily="34" charset="0"/>
                <a:ea typeface="Arial Narrow" pitchFamily="34" charset="-122"/>
                <a:cs typeface="Arial Narrow" pitchFamily="34" charset="-120"/>
              </a:rPr>
              <a:t>APPROVED</a:t>
            </a:r>
            <a:pPr indent="0" marL="0">
              <a:buNone/>
            </a:pPr>
            <a:r>
              <a:rPr lang="en-US" sz="1400" dirty="0">
                <a:solidFill>
                  <a:srgbClr val="3E4752"/>
                </a:solidFill>
              </a:rPr>
              <a:t>  12.5% risk</a:t>
            </a:r>
            <a:endParaRPr lang="en-US" sz="1400" dirty="0"/>
          </a:p>
        </p:txBody>
      </p:sp>
      <p:sp>
        <p:nvSpPr>
          <p:cNvPr id="12" name="step-3"/>
          <p:cNvSpPr/>
          <p:nvPr/>
        </p:nvSpPr>
        <p:spPr>
          <a:xfrm>
            <a:off x="8229600" y="3063240"/>
            <a:ext cx="438912" cy="438912"/>
          </a:xfrm>
          <a:prstGeom prst="ellipse">
            <a:avLst/>
          </a:prstGeom>
          <a:solidFill>
            <a:srgbClr val="13294B"/>
          </a:solid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3" name="Text 9"/>
          <p:cNvSpPr txBox="1"/>
          <p:nvPr/>
        </p:nvSpPr>
        <p:spPr>
          <a:xfrm>
            <a:off x="8823960" y="3017520"/>
            <a:ext cx="2773375" cy="347472"/>
          </a:xfrm>
          <a:prstGeom prst="rect">
            <a:avLst/>
          </a:prstGeom>
          <a:noFill/>
          <a:ln/>
        </p:spPr>
        <p:txBody>
          <a:bodyPr wrap="square" lIns="0" tIns="0" rIns="0" bIns="0" rtlCol="0" anchor="t"/>
          <a:lstStyle/>
          <a:p>
            <a:pPr indent="0" marL="0">
              <a:buNone/>
            </a:pPr>
            <a:r>
              <a:rPr lang="en-US" sz="1700" b="1" dirty="0">
                <a:solidFill>
                  <a:srgbClr val="1B2430"/>
                </a:solidFill>
              </a:rPr>
              <a:t>Raise limit to 1,000</a:t>
            </a:r>
            <a:endParaRPr lang="en-US" sz="1700" dirty="0"/>
          </a:p>
        </p:txBody>
      </p:sp>
      <p:sp>
        <p:nvSpPr>
          <p:cNvPr id="14" name="Text 10"/>
          <p:cNvSpPr txBox="1"/>
          <p:nvPr/>
        </p:nvSpPr>
        <p:spPr>
          <a:xfrm>
            <a:off x="8823960" y="3364992"/>
            <a:ext cx="2773375" cy="329184"/>
          </a:xfrm>
          <a:prstGeom prst="rect">
            <a:avLst/>
          </a:prstGeom>
          <a:noFill/>
          <a:ln/>
        </p:spPr>
        <p:txBody>
          <a:bodyPr wrap="square" lIns="0" tIns="0" rIns="0" bIns="0" rtlCol="0" anchor="t"/>
          <a:lstStyle/>
          <a:p>
            <a:pPr indent="0" marL="0">
              <a:buNone/>
            </a:pPr>
            <a:r>
              <a:rPr lang="en-US" sz="1400" b="1" spc="200" kern="0" dirty="0">
                <a:solidFill>
                  <a:srgbClr val="A8660F"/>
                </a:solidFill>
                <a:latin typeface="Arial Narrow" pitchFamily="34" charset="0"/>
                <a:ea typeface="Arial Narrow" pitchFamily="34" charset="-122"/>
                <a:cs typeface="Arial Narrow" pitchFamily="34" charset="-120"/>
              </a:rPr>
              <a:t>FOR REVIEW</a:t>
            </a:r>
            <a:pPr indent="0" marL="0">
              <a:buNone/>
            </a:pPr>
            <a:r>
              <a:rPr lang="en-US" sz="1400" dirty="0">
                <a:solidFill>
                  <a:srgbClr val="3E4752"/>
                </a:solidFill>
              </a:rPr>
              <a:t>  same 12.5% risk</a:t>
            </a:r>
            <a:endParaRPr lang="en-US" sz="1400" dirty="0"/>
          </a:p>
        </p:txBody>
      </p:sp>
      <p:sp>
        <p:nvSpPr>
          <p:cNvPr id="15" name="step-4"/>
          <p:cNvSpPr/>
          <p:nvPr/>
        </p:nvSpPr>
        <p:spPr>
          <a:xfrm>
            <a:off x="8229600" y="3886200"/>
            <a:ext cx="438912" cy="438912"/>
          </a:xfrm>
          <a:prstGeom prst="ellipse">
            <a:avLst/>
          </a:prstGeom>
          <a:solidFill>
            <a:srgbClr val="13294B"/>
          </a:solid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6" name="Text 12"/>
          <p:cNvSpPr txBox="1"/>
          <p:nvPr/>
        </p:nvSpPr>
        <p:spPr>
          <a:xfrm>
            <a:off x="8823960" y="3840480"/>
            <a:ext cx="2773375" cy="347472"/>
          </a:xfrm>
          <a:prstGeom prst="rect">
            <a:avLst/>
          </a:prstGeom>
          <a:noFill/>
          <a:ln/>
        </p:spPr>
        <p:txBody>
          <a:bodyPr wrap="square" lIns="0" tIns="0" rIns="0" bIns="0" rtlCol="0" anchor="t"/>
          <a:lstStyle/>
          <a:p>
            <a:pPr indent="0" marL="0">
              <a:buNone/>
            </a:pPr>
            <a:r>
              <a:rPr lang="en-US" sz="1700" b="1" dirty="0">
                <a:solidFill>
                  <a:srgbClr val="1B2430"/>
                </a:solidFill>
              </a:rPr>
              <a:t>Suspicious</a:t>
            </a:r>
            <a:endParaRPr lang="en-US" sz="1700" dirty="0"/>
          </a:p>
        </p:txBody>
      </p:sp>
      <p:sp>
        <p:nvSpPr>
          <p:cNvPr id="17" name="Text 13"/>
          <p:cNvSpPr txBox="1"/>
          <p:nvPr/>
        </p:nvSpPr>
        <p:spPr>
          <a:xfrm>
            <a:off x="8823960" y="4187952"/>
            <a:ext cx="2773375" cy="329184"/>
          </a:xfrm>
          <a:prstGeom prst="rect">
            <a:avLst/>
          </a:prstGeom>
          <a:noFill/>
          <a:ln/>
        </p:spPr>
        <p:txBody>
          <a:bodyPr wrap="square" lIns="0" tIns="0" rIns="0" bIns="0" rtlCol="0" anchor="t"/>
          <a:lstStyle/>
          <a:p>
            <a:pPr indent="0" marL="0">
              <a:buNone/>
            </a:pPr>
            <a:r>
              <a:rPr lang="en-US" sz="1400" b="1" spc="200" kern="0" dirty="0">
                <a:solidFill>
                  <a:srgbClr val="B42318"/>
                </a:solidFill>
                <a:latin typeface="Arial Narrow" pitchFamily="34" charset="0"/>
                <a:ea typeface="Arial Narrow" pitchFamily="34" charset="-122"/>
                <a:cs typeface="Arial Narrow" pitchFamily="34" charset="-120"/>
              </a:rPr>
              <a:t>BLOCKED</a:t>
            </a:r>
            <a:pPr indent="0" marL="0">
              <a:buNone/>
            </a:pPr>
            <a:r>
              <a:rPr lang="en-US" sz="1400" dirty="0">
                <a:solidFill>
                  <a:srgbClr val="3E4752"/>
                </a:solidFill>
              </a:rPr>
              <a:t>  29.8% risk</a:t>
            </a:r>
            <a:endParaRPr lang="en-US" sz="1400" dirty="0"/>
          </a:p>
        </p:txBody>
      </p:sp>
      <p:sp>
        <p:nvSpPr>
          <p:cNvPr id="18" name="step-5"/>
          <p:cNvSpPr/>
          <p:nvPr/>
        </p:nvSpPr>
        <p:spPr>
          <a:xfrm>
            <a:off x="8229600" y="4709160"/>
            <a:ext cx="438912" cy="438912"/>
          </a:xfrm>
          <a:prstGeom prst="ellipse">
            <a:avLst/>
          </a:prstGeom>
          <a:solidFill>
            <a:srgbClr val="13294B"/>
          </a:solid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19" name="Text 15"/>
          <p:cNvSpPr txBox="1"/>
          <p:nvPr/>
        </p:nvSpPr>
        <p:spPr>
          <a:xfrm>
            <a:off x="8823960" y="4663440"/>
            <a:ext cx="2773375" cy="347472"/>
          </a:xfrm>
          <a:prstGeom prst="rect">
            <a:avLst/>
          </a:prstGeom>
          <a:noFill/>
          <a:ln/>
        </p:spPr>
        <p:txBody>
          <a:bodyPr wrap="square" lIns="0" tIns="0" rIns="0" bIns="0" rtlCol="0" anchor="t"/>
          <a:lstStyle/>
          <a:p>
            <a:pPr indent="0" marL="0">
              <a:buNone/>
            </a:pPr>
            <a:r>
              <a:rPr lang="en-US" sz="1700" b="1" dirty="0">
                <a:solidFill>
                  <a:srgbClr val="1B2430"/>
                </a:solidFill>
              </a:rPr>
              <a:t>Batch of 500</a:t>
            </a:r>
            <a:endParaRPr lang="en-US" sz="1700" dirty="0"/>
          </a:p>
        </p:txBody>
      </p:sp>
      <p:sp>
        <p:nvSpPr>
          <p:cNvPr id="20" name="Text 16"/>
          <p:cNvSpPr txBox="1"/>
          <p:nvPr/>
        </p:nvSpPr>
        <p:spPr>
          <a:xfrm>
            <a:off x="8823960" y="5010912"/>
            <a:ext cx="2773375" cy="329184"/>
          </a:xfrm>
          <a:prstGeom prst="rect">
            <a:avLst/>
          </a:prstGeom>
          <a:noFill/>
          <a:ln/>
        </p:spPr>
        <p:txBody>
          <a:bodyPr wrap="square" lIns="0" tIns="0" rIns="0" bIns="0" rtlCol="0" anchor="t"/>
          <a:lstStyle/>
          <a:p>
            <a:pPr indent="0" marL="0">
              <a:buNone/>
            </a:pPr>
            <a:r>
              <a:rPr lang="en-US" sz="1400" dirty="0">
                <a:solidFill>
                  <a:srgbClr val="3E4752"/>
                </a:solidFill>
              </a:rPr>
              <a:t>450 approved · 46 review · 4 blocked</a:t>
            </a:r>
            <a:endParaRPr lang="en-US" sz="1400" dirty="0"/>
          </a:p>
        </p:txBody>
      </p:sp>
      <p:sp>
        <p:nvSpPr>
          <p:cNvPr id="21" name="Text 17"/>
          <p:cNvSpPr txBox="1"/>
          <p:nvPr/>
        </p:nvSpPr>
        <p:spPr>
          <a:xfrm>
            <a:off x="594360" y="6204204"/>
            <a:ext cx="7223760" cy="274320"/>
          </a:xfrm>
          <a:prstGeom prst="rect">
            <a:avLst/>
          </a:prstGeom>
          <a:noFill/>
          <a:ln/>
        </p:spPr>
        <p:txBody>
          <a:bodyPr wrap="square" lIns="0" tIns="0" rIns="0" bIns="0" rtlCol="0" anchor="t"/>
          <a:lstStyle/>
          <a:p>
            <a:pPr indent="0" marL="0">
              <a:buNone/>
            </a:pPr>
            <a:r>
              <a:rPr lang="en-US" sz="1200" dirty="0">
                <a:solidFill>
                  <a:srgbClr val="3E4752"/>
                </a:solidFill>
                <a:latin typeface="Consolas" pitchFamily="34" charset="0"/>
                <a:ea typeface="Consolas" pitchFamily="34" charset="-122"/>
                <a:cs typeface="Consolas" pitchFamily="34" charset="-120"/>
              </a:rPr>
              <a:t>delayed-label-fraud-decisioning-gefp9s9mbkfdyzhhvescdm.streamlit.app</a:t>
            </a:r>
            <a:endParaRPr lang="en-US" sz="1200" dirty="0"/>
          </a:p>
        </p:txBody>
      </p:sp>
      <p:sp>
        <p:nvSpPr>
          <p:cNvPr id="25" name="Slide Number Placeholder 0"/>
          <p:cNvSpPr>
            <a:spLocks noGrp="1"/>
          </p:cNvSpPr>
          <p:nvPr>
            <p:ph type="sldNum" sz="quarter" idx="4294967295"/>
          </p:nvPr>
        </p:nvSpPr>
        <p:spPr>
          <a:xfrm>
            <a:off x="1104869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E475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94360" y="347472"/>
            <a:ext cx="11002975" cy="777240"/>
          </a:xfrm>
          <a:prstGeom prst="rect">
            <a:avLst/>
          </a:prstGeom>
          <a:noFill/>
          <a:ln/>
        </p:spPr>
        <p:txBody>
          <a:bodyPr wrap="square" lIns="0" tIns="0" rIns="0" bIns="0" rtlCol="0" anchor="ctr"/>
          <a:lstStyle/>
          <a:p>
            <a:pPr algn="l" indent="0" marL="0">
              <a:buNone/>
            </a:pPr>
            <a:r>
              <a:rPr lang="en-US" sz="3400" b="1" dirty="0">
                <a:solidFill>
                  <a:schemeClr val="tx2"/>
                </a:solidFill>
              </a:rPr>
              <a:t>Result: the desk cut costs by more than half</a:t>
            </a:r>
            <a:endParaRPr lang="en-US" sz="3400" dirty="0"/>
          </a:p>
        </p:txBody>
      </p:sp>
      <p:sp>
        <p:nvSpPr>
          <p:cNvPr id="4" name="Text 1"/>
          <p:cNvSpPr txBox="1"/>
          <p:nvPr/>
        </p:nvSpPr>
        <p:spPr>
          <a:xfrm>
            <a:off x="594360" y="1417320"/>
            <a:ext cx="4023360" cy="1234440"/>
          </a:xfrm>
          <a:prstGeom prst="rect">
            <a:avLst/>
          </a:prstGeom>
          <a:noFill/>
          <a:ln/>
        </p:spPr>
        <p:txBody>
          <a:bodyPr wrap="square" lIns="0" tIns="0" rIns="0" bIns="0" rtlCol="0" anchor="t"/>
          <a:lstStyle/>
          <a:p>
            <a:pPr indent="0" marL="0">
              <a:buNone/>
            </a:pPr>
            <a:r>
              <a:rPr lang="en-US" sz="8000" b="1" dirty="0">
                <a:solidFill>
                  <a:srgbClr val="13294B"/>
                </a:solidFill>
              </a:rPr>
              <a:t>57.91%</a:t>
            </a:r>
            <a:endParaRPr lang="en-US" sz="8000" dirty="0"/>
          </a:p>
        </p:txBody>
      </p:sp>
      <p:sp>
        <p:nvSpPr>
          <p:cNvPr id="5" name="Text 2"/>
          <p:cNvSpPr txBox="1"/>
          <p:nvPr/>
        </p:nvSpPr>
        <p:spPr>
          <a:xfrm>
            <a:off x="594360" y="2697480"/>
            <a:ext cx="3840480" cy="731520"/>
          </a:xfrm>
          <a:prstGeom prst="rect">
            <a:avLst/>
          </a:prstGeom>
          <a:noFill/>
          <a:ln/>
        </p:spPr>
        <p:txBody>
          <a:bodyPr wrap="square" lIns="0" tIns="0" rIns="0" bIns="0" rtlCol="0" anchor="t"/>
          <a:lstStyle/>
          <a:p>
            <a:pPr indent="0" marL="0">
              <a:buNone/>
            </a:pPr>
            <a:r>
              <a:rPr lang="en-US" sz="2200" b="1" dirty="0">
                <a:solidFill>
                  <a:srgbClr val="1B2430"/>
                </a:solidFill>
              </a:rPr>
              <a:t>lower cost than the best simple rule</a:t>
            </a:r>
            <a:endParaRPr lang="en-US" sz="2200" dirty="0"/>
          </a:p>
        </p:txBody>
      </p:sp>
      <p:sp>
        <p:nvSpPr>
          <p:cNvPr id="6" name="Text 3"/>
          <p:cNvSpPr txBox="1"/>
          <p:nvPr/>
        </p:nvSpPr>
        <p:spPr>
          <a:xfrm>
            <a:off x="594360" y="3657600"/>
            <a:ext cx="4023360" cy="1737360"/>
          </a:xfrm>
          <a:prstGeom prst="rect">
            <a:avLst/>
          </a:prstGeom>
          <a:noFill/>
          <a:ln/>
        </p:spPr>
        <p:txBody>
          <a:bodyPr wrap="square" lIns="0" tIns="0" rIns="0" bIns="0" rtlCol="0" anchor="t"/>
          <a:lstStyle/>
          <a:p>
            <a:pPr indent="0" marL="0">
              <a:spcAft>
                <a:spcPts val="1000"/>
              </a:spcAft>
              <a:buNone/>
            </a:pPr>
            <a:r>
              <a:rPr lang="en-US" sz="1600" dirty="0">
                <a:solidFill>
                  <a:srgbClr val="3E4752"/>
                </a:solidFill>
              </a:rPr>
              <a:t>95% confidence: </a:t>
            </a:r>
            <a:pPr indent="0" marL="0">
              <a:spcAft>
                <a:spcPts val="1000"/>
              </a:spcAft>
              <a:buNone/>
            </a:pPr>
            <a:r>
              <a:rPr lang="en-US" sz="1600" b="1" dirty="0">
                <a:solidFill>
                  <a:srgbClr val="1B2430"/>
                </a:solidFill>
              </a:rPr>
              <a:t>53.95% to 62.13%</a:t>
            </a:r>
            <a:endParaRPr lang="en-US" sz="1600" dirty="0"/>
          </a:p>
          <a:p>
            <a:pPr indent="0" marL="0">
              <a:spcAft>
                <a:spcPts val="1000"/>
              </a:spcAft>
              <a:buNone/>
            </a:pPr>
            <a:r>
              <a:rPr lang="en-US" sz="1600" dirty="0">
                <a:solidFill>
                  <a:srgbClr val="3E4752"/>
                </a:solidFill>
              </a:rPr>
              <a:t>Tested once on </a:t>
            </a:r>
            <a:pPr indent="0" marL="0">
              <a:spcAft>
                <a:spcPts val="1000"/>
              </a:spcAft>
              <a:buNone/>
            </a:pPr>
            <a:r>
              <a:rPr lang="en-US" sz="1600" b="1" dirty="0">
                <a:solidFill>
                  <a:srgbClr val="1B2430"/>
                </a:solidFill>
              </a:rPr>
              <a:t>227,491</a:t>
            </a:r>
            <a:pPr indent="0" marL="0">
              <a:spcAft>
                <a:spcPts val="1000"/>
              </a:spcAft>
              <a:buNone/>
            </a:pPr>
            <a:r>
              <a:rPr lang="en-US" sz="1600" dirty="0">
                <a:solidFill>
                  <a:srgbClr val="3E4752"/>
                </a:solidFill>
              </a:rPr>
              <a:t> applications</a:t>
            </a:r>
            <a:endParaRPr lang="en-US" sz="1600" dirty="0"/>
          </a:p>
          <a:p>
            <a:pPr indent="0" marL="0">
              <a:spcAft>
                <a:spcPts val="1000"/>
              </a:spcAft>
              <a:buNone/>
            </a:pPr>
            <a:r>
              <a:rPr lang="en-US" sz="1600" dirty="0">
                <a:solidFill>
                  <a:srgbClr val="3E4752"/>
                </a:solidFill>
              </a:rPr>
              <a:t>Cost per application: </a:t>
            </a:r>
            <a:pPr indent="0" marL="0">
              <a:spcAft>
                <a:spcPts val="1000"/>
              </a:spcAft>
              <a:buNone/>
            </a:pPr>
            <a:r>
              <a:rPr lang="en-US" sz="1600" b="1" dirty="0">
                <a:solidFill>
                  <a:srgbClr val="1B2430"/>
                </a:solidFill>
              </a:rPr>
              <a:t>0.007491 vs 0.017798</a:t>
            </a:r>
            <a:endParaRPr lang="en-US" sz="1600" dirty="0"/>
          </a:p>
        </p:txBody>
      </p:sp>
      <p:graphicFrame>
        <p:nvGraphicFramePr>
          <p:cNvPr id="7" name="results-chart" descr=""/>
          <p:cNvGraphicFramePr/>
          <p:nvPr/>
        </p:nvGraphicFramePr>
        <p:xfrm>
          <a:off x="4892040" y="1325880"/>
          <a:ext cx="6705295" cy="47548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4869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E475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94360" y="347472"/>
            <a:ext cx="11002975" cy="777240"/>
          </a:xfrm>
          <a:prstGeom prst="rect">
            <a:avLst/>
          </a:prstGeom>
          <a:noFill/>
          <a:ln/>
        </p:spPr>
        <p:txBody>
          <a:bodyPr wrap="square" lIns="0" tIns="0" rIns="0" bIns="0" rtlCol="0" anchor="ctr"/>
          <a:lstStyle/>
          <a:p>
            <a:pPr algn="l" indent="0" marL="0">
              <a:buNone/>
            </a:pPr>
            <a:r>
              <a:rPr lang="en-US" sz="3400" b="1" dirty="0">
                <a:solidFill>
                  <a:schemeClr val="tx2"/>
                </a:solidFill>
              </a:rPr>
              <a:t>It holds up</a:t>
            </a:r>
            <a:endParaRPr lang="en-US" sz="3400" dirty="0"/>
          </a:p>
        </p:txBody>
      </p:sp>
      <p:graphicFrame>
        <p:nvGraphicFramePr>
          <p:cNvPr id="4" name="sensitivity-chart" descr=""/>
          <p:cNvGraphicFramePr/>
          <p:nvPr/>
        </p:nvGraphicFramePr>
        <p:xfrm>
          <a:off x="594360" y="1325880"/>
          <a:ext cx="6583680" cy="4663440"/>
        </p:xfrm>
        <a:graphic xmlns:a="http://schemas.openxmlformats.org/drawingml/2006/main">
          <a:graphicData uri="http://schemas.openxmlformats.org/drawingml/2006/chart">
            <c:chart xmlns:c="http://schemas.openxmlformats.org/drawingml/2006/chart" r:id="rId1"/>
          </a:graphicData>
        </a:graphic>
      </p:graphicFrame>
      <p:sp>
        <p:nvSpPr>
          <p:cNvPr id="5" name="min-callout"/>
          <p:cNvSpPr/>
          <p:nvPr/>
        </p:nvSpPr>
        <p:spPr>
          <a:xfrm>
            <a:off x="7543800" y="1371600"/>
            <a:ext cx="4053535" cy="1965960"/>
          </a:xfrm>
          <a:prstGeom prst="roundRect">
            <a:avLst>
              <a:gd name="adj" fmla="val 5581"/>
            </a:avLst>
          </a:prstGeom>
          <a:solidFill>
            <a:srgbClr val="13294B"/>
          </a:solidFill>
          <a:ln w="9525">
            <a:solidFill>
              <a:srgbClr val="D6DBD0"/>
            </a:solidFill>
            <a:prstDash val="solid"/>
          </a:ln>
          <a:effectLst>
            <a:outerShdw sx="100000" sy="100000" kx="0" ky="0" algn="bl" rotWithShape="0" blurRad="76200" dist="25400" dir="5400000">
              <a:srgbClr val="0C1C36">
                <a:alpha val="8000"/>
              </a:srgbClr>
            </a:outerShdw>
          </a:effectLst>
        </p:spPr>
      </p:sp>
      <p:sp>
        <p:nvSpPr>
          <p:cNvPr id="6" name="Text 2"/>
          <p:cNvSpPr txBox="1"/>
          <p:nvPr/>
        </p:nvSpPr>
        <p:spPr>
          <a:xfrm>
            <a:off x="7909560" y="1554480"/>
            <a:ext cx="3322015" cy="1645920"/>
          </a:xfrm>
          <a:prstGeom prst="rect">
            <a:avLst/>
          </a:prstGeom>
          <a:noFill/>
          <a:ln/>
        </p:spPr>
        <p:txBody>
          <a:bodyPr wrap="square" lIns="0" tIns="0" rIns="0" bIns="0" rtlCol="0" anchor="t"/>
          <a:lstStyle/>
          <a:p>
            <a:pPr indent="0" marL="0">
              <a:buNone/>
            </a:pPr>
            <a:r>
              <a:rPr lang="en-US" sz="1600" dirty="0">
                <a:solidFill>
                  <a:srgbClr val="AFC0DA"/>
                </a:solidFill>
              </a:rPr>
              <a:t>Never below</a:t>
            </a:r>
            <a:endParaRPr lang="en-US" sz="1600" dirty="0"/>
          </a:p>
          <a:p>
            <a:pPr indent="0" marL="0">
              <a:buNone/>
            </a:pPr>
            <a:r>
              <a:rPr lang="en-US" sz="4800" b="1" dirty="0">
                <a:solidFill>
                  <a:srgbClr val="FFFFFF"/>
                </a:solidFill>
              </a:rPr>
              <a:t>47.76%</a:t>
            </a:r>
            <a:endParaRPr lang="en-US" sz="1600" dirty="0"/>
          </a:p>
          <a:p>
            <a:pPr indent="0" marL="0">
              <a:buNone/>
            </a:pPr>
            <a:r>
              <a:rPr lang="en-US" sz="1600" dirty="0">
                <a:solidFill>
                  <a:srgbClr val="AFC0DA"/>
                </a:solidFill>
              </a:rPr>
              <a:t>cheaper, in every scenario</a:t>
            </a:r>
            <a:endParaRPr lang="en-US" sz="1600" dirty="0"/>
          </a:p>
        </p:txBody>
      </p:sp>
      <p:sp>
        <p:nvSpPr>
          <p:cNvPr id="7" name="model-tie"/>
          <p:cNvSpPr/>
          <p:nvPr/>
        </p:nvSpPr>
        <p:spPr>
          <a:xfrm>
            <a:off x="7543800" y="3611880"/>
            <a:ext cx="4053535" cy="2377440"/>
          </a:xfrm>
          <a:prstGeom prst="roundRect">
            <a:avLst>
              <a:gd name="adj" fmla="val 4615"/>
            </a:avLst>
          </a:prstGeom>
          <a:solidFill>
            <a:srgbClr val="FFFFFF"/>
          </a:solidFill>
          <a:ln w="9525">
            <a:solidFill>
              <a:srgbClr val="D6DBD0"/>
            </a:solidFill>
            <a:prstDash val="solid"/>
          </a:ln>
          <a:effectLst>
            <a:outerShdw sx="100000" sy="100000" kx="0" ky="0" algn="bl" rotWithShape="0" blurRad="76200" dist="25400" dir="5400000">
              <a:srgbClr val="0C1C36">
                <a:alpha val="8000"/>
              </a:srgbClr>
            </a:outerShdw>
          </a:effectLst>
        </p:spPr>
      </p:sp>
      <p:sp>
        <p:nvSpPr>
          <p:cNvPr id="8" name="Text 4"/>
          <p:cNvSpPr txBox="1"/>
          <p:nvPr/>
        </p:nvSpPr>
        <p:spPr>
          <a:xfrm>
            <a:off x="7909560" y="3794760"/>
            <a:ext cx="3322015" cy="411480"/>
          </a:xfrm>
          <a:prstGeom prst="rect">
            <a:avLst/>
          </a:prstGeom>
          <a:noFill/>
          <a:ln/>
        </p:spPr>
        <p:txBody>
          <a:bodyPr wrap="square" lIns="0" tIns="0" rIns="0" bIns="0" rtlCol="0" anchor="t"/>
          <a:lstStyle/>
          <a:p>
            <a:pPr indent="0" marL="0">
              <a:buNone/>
            </a:pPr>
            <a:r>
              <a:rPr lang="en-US" sz="2000" b="1" dirty="0">
                <a:solidFill>
                  <a:srgbClr val="13294B"/>
                </a:solidFill>
              </a:rPr>
              <a:t>The three models tied</a:t>
            </a:r>
            <a:endParaRPr lang="en-US" sz="2000" dirty="0"/>
          </a:p>
        </p:txBody>
      </p:sp>
      <p:sp>
        <p:nvSpPr>
          <p:cNvPr id="9" name="tie-bar-0"/>
          <p:cNvSpPr/>
          <p:nvPr/>
        </p:nvSpPr>
        <p:spPr>
          <a:xfrm>
            <a:off x="7909560" y="4343400"/>
            <a:ext cx="646283" cy="201168"/>
          </a:xfrm>
          <a:prstGeom prst="rect">
            <a:avLst/>
          </a:prstGeom>
          <a:solidFill>
            <a:srgbClr val="13294B"/>
          </a:solidFill>
          <a:ln/>
        </p:spPr>
      </p:sp>
      <p:sp>
        <p:nvSpPr>
          <p:cNvPr id="10" name="Text 6"/>
          <p:cNvSpPr txBox="1"/>
          <p:nvPr/>
        </p:nvSpPr>
        <p:spPr>
          <a:xfrm>
            <a:off x="7909560" y="4581144"/>
            <a:ext cx="3322015" cy="292608"/>
          </a:xfrm>
          <a:prstGeom prst="rect">
            <a:avLst/>
          </a:prstGeom>
          <a:noFill/>
          <a:ln/>
        </p:spPr>
        <p:txBody>
          <a:bodyPr wrap="square" lIns="0" tIns="0" rIns="0" bIns="0" rtlCol="0" anchor="t"/>
          <a:lstStyle/>
          <a:p>
            <a:pPr indent="0" marL="0">
              <a:buNone/>
            </a:pPr>
            <a:r>
              <a:rPr lang="en-US" sz="1400" b="1" dirty="0">
                <a:solidFill>
                  <a:srgbClr val="1B2430"/>
                </a:solidFill>
              </a:rPr>
              <a:t>1.07%  </a:t>
            </a:r>
            <a:pPr indent="0" marL="0">
              <a:buNone/>
            </a:pPr>
            <a:r>
              <a:rPr lang="en-US" sz="1400" dirty="0">
                <a:solidFill>
                  <a:srgbClr val="3E4752"/>
                </a:solidFill>
              </a:rPr>
              <a:t>measured gap</a:t>
            </a:r>
            <a:endParaRPr lang="en-US" sz="1400" dirty="0"/>
          </a:p>
        </p:txBody>
      </p:sp>
      <p:sp>
        <p:nvSpPr>
          <p:cNvPr id="11" name="tie-bar-1"/>
          <p:cNvSpPr/>
          <p:nvPr/>
        </p:nvSpPr>
        <p:spPr>
          <a:xfrm>
            <a:off x="7909560" y="4965192"/>
            <a:ext cx="3020014" cy="201168"/>
          </a:xfrm>
          <a:prstGeom prst="rect">
            <a:avLst/>
          </a:prstGeom>
          <a:solidFill>
            <a:srgbClr val="B8C0C9"/>
          </a:solidFill>
          <a:ln/>
        </p:spPr>
      </p:sp>
      <p:sp>
        <p:nvSpPr>
          <p:cNvPr id="12" name="Text 8"/>
          <p:cNvSpPr txBox="1"/>
          <p:nvPr/>
        </p:nvSpPr>
        <p:spPr>
          <a:xfrm>
            <a:off x="7909560" y="5202936"/>
            <a:ext cx="3322015" cy="292608"/>
          </a:xfrm>
          <a:prstGeom prst="rect">
            <a:avLst/>
          </a:prstGeom>
          <a:noFill/>
          <a:ln/>
        </p:spPr>
        <p:txBody>
          <a:bodyPr wrap="square" lIns="0" tIns="0" rIns="0" bIns="0" rtlCol="0" anchor="t"/>
          <a:lstStyle/>
          <a:p>
            <a:pPr indent="0" marL="0">
              <a:buNone/>
            </a:pPr>
            <a:r>
              <a:rPr lang="en-US" sz="1400" b="1" dirty="0">
                <a:solidFill>
                  <a:srgbClr val="1B2430"/>
                </a:solidFill>
              </a:rPr>
              <a:t>5%  </a:t>
            </a:r>
            <a:pPr indent="0" marL="0">
              <a:buNone/>
            </a:pPr>
            <a:r>
              <a:rPr lang="en-US" sz="1400" dirty="0">
                <a:solidFill>
                  <a:srgbClr val="3E4752"/>
                </a:solidFill>
              </a:rPr>
              <a:t>bar for a real difference</a:t>
            </a:r>
            <a:endParaRPr lang="en-US" sz="1400" dirty="0"/>
          </a:p>
        </p:txBody>
      </p:sp>
      <p:sp>
        <p:nvSpPr>
          <p:cNvPr id="13" name="Text 9"/>
          <p:cNvSpPr txBox="1"/>
          <p:nvPr/>
        </p:nvSpPr>
        <p:spPr>
          <a:xfrm>
            <a:off x="7909560" y="5577840"/>
            <a:ext cx="3322015" cy="292608"/>
          </a:xfrm>
          <a:prstGeom prst="rect">
            <a:avLst/>
          </a:prstGeom>
          <a:noFill/>
          <a:ln/>
        </p:spPr>
        <p:txBody>
          <a:bodyPr wrap="square" lIns="0" tIns="0" rIns="0" bIns="0" rtlCol="0" anchor="t"/>
          <a:lstStyle/>
          <a:p>
            <a:pPr indent="0" marL="0">
              <a:buNone/>
            </a:pPr>
            <a:r>
              <a:rPr lang="en-US" sz="1300" i="1" dirty="0">
                <a:solidFill>
                  <a:srgbClr val="3E4752"/>
                </a:solidFill>
              </a:rPr>
              <a:t>So we used the simplest one.</a:t>
            </a:r>
            <a:endParaRPr lang="en-US" sz="1300" dirty="0"/>
          </a:p>
        </p:txBody>
      </p:sp>
      <p:sp>
        <p:nvSpPr>
          <p:cNvPr id="25" name="Slide Number Placeholder 0"/>
          <p:cNvSpPr>
            <a:spLocks noGrp="1"/>
          </p:cNvSpPr>
          <p:nvPr>
            <p:ph type="sldNum" sz="quarter" idx="4294967295"/>
          </p:nvPr>
        </p:nvSpPr>
        <p:spPr>
          <a:xfrm>
            <a:off x="1104869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E475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914400"/>
          </a:xfrm>
          <a:prstGeom prst="rect">
            <a:avLst/>
          </a:prstGeom>
          <a:noFill/>
          <a:ln/>
        </p:spPr>
        <p:txBody>
          <a:bodyPr wrap="square" lIns="0" tIns="0" rIns="0" bIns="0" rtlCol="0" anchor="ctr"/>
          <a:lstStyle/>
          <a:p>
            <a:pPr algn="l" indent="0" marL="0">
              <a:buNone/>
            </a:pPr>
            <a:r>
              <a:rPr lang="en-US" sz="3600" b="1" dirty="0">
                <a:solidFill>
                  <a:schemeClr val="bg1"/>
                </a:solidFill>
              </a:rPr>
              <a:t>The decision rule, not the model, does the work</a:t>
            </a:r>
            <a:endParaRPr lang="en-US" sz="3600" dirty="0"/>
          </a:p>
        </p:txBody>
      </p:sp>
      <p:sp>
        <p:nvSpPr>
          <p:cNvPr id="3" name="conclusion-0"/>
          <p:cNvSpPr/>
          <p:nvPr/>
        </p:nvSpPr>
        <p:spPr>
          <a:xfrm>
            <a:off x="594360" y="1874520"/>
            <a:ext cx="5272888" cy="4160520"/>
          </a:xfrm>
          <a:prstGeom prst="roundRect">
            <a:avLst>
              <a:gd name="adj" fmla="val 2637"/>
            </a:avLst>
          </a:prstGeom>
          <a:solidFill>
            <a:srgbClr val="FFFFFF"/>
          </a:solidFill>
          <a:ln w="9525">
            <a:solidFill>
              <a:srgbClr val="D6DBD0"/>
            </a:solidFill>
            <a:prstDash val="solid"/>
          </a:ln>
          <a:effectLst>
            <a:outerShdw sx="100000" sy="100000" kx="0" ky="0" algn="bl" rotWithShape="0" blurRad="76200" dist="25400" dir="5400000">
              <a:srgbClr val="0C1C36">
                <a:alpha val="8000"/>
              </a:srgbClr>
            </a:outerShdw>
          </a:effectLst>
        </p:spPr>
      </p:sp>
      <p:sp>
        <p:nvSpPr>
          <p:cNvPr id="4" name="Text 2"/>
          <p:cNvSpPr txBox="1"/>
          <p:nvPr/>
        </p:nvSpPr>
        <p:spPr>
          <a:xfrm>
            <a:off x="1005840" y="2194560"/>
            <a:ext cx="4449928" cy="502920"/>
          </a:xfrm>
          <a:prstGeom prst="rect">
            <a:avLst/>
          </a:prstGeom>
          <a:noFill/>
          <a:ln/>
        </p:spPr>
        <p:txBody>
          <a:bodyPr wrap="square" lIns="0" tIns="0" rIns="0" bIns="0" rtlCol="0" anchor="t"/>
          <a:lstStyle/>
          <a:p>
            <a:pPr indent="0" marL="0">
              <a:buNone/>
            </a:pPr>
            <a:r>
              <a:rPr lang="en-US" sz="2400" b="1" dirty="0">
                <a:solidFill>
                  <a:srgbClr val="1E7A46"/>
                </a:solidFill>
              </a:rPr>
              <a:t>What we showed</a:t>
            </a:r>
            <a:endParaRPr lang="en-US" sz="2400" dirty="0"/>
          </a:p>
        </p:txBody>
      </p:sp>
      <p:sp>
        <p:nvSpPr>
          <p:cNvPr id="5" name="Text 3"/>
          <p:cNvSpPr txBox="1"/>
          <p:nvPr/>
        </p:nvSpPr>
        <p:spPr>
          <a:xfrm>
            <a:off x="1005840" y="2880360"/>
            <a:ext cx="4449928" cy="288036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1B2430"/>
                </a:solidFill>
              </a:rPr>
              <a:t>Weighing costs beats a fixed cut-off: 57.91% lower cost</a:t>
            </a:r>
            <a:endParaRPr lang="en-US" sz="1800" dirty="0"/>
          </a:p>
          <a:p>
            <a:pPr marL="342900" indent="-342900">
              <a:spcAft>
                <a:spcPts val="1200"/>
              </a:spcAft>
              <a:buSzPct val="100000"/>
              <a:buChar char="•"/>
            </a:pPr>
            <a:r>
              <a:rPr lang="en-US" sz="1800" dirty="0">
                <a:solidFill>
                  <a:srgbClr val="1B2430"/>
                </a:solidFill>
              </a:rPr>
              <a:t>95% confidence: 53.95% to 62.13%</a:t>
            </a:r>
            <a:endParaRPr lang="en-US" sz="1800" dirty="0"/>
          </a:p>
          <a:p>
            <a:pPr marL="342900" indent="-342900">
              <a:spcAft>
                <a:spcPts val="1200"/>
              </a:spcAft>
              <a:buSzPct val="100000"/>
              <a:buChar char="•"/>
            </a:pPr>
            <a:r>
              <a:rPr lang="en-US" sz="1800" dirty="0">
                <a:solidFill>
                  <a:srgbClr val="1B2430"/>
                </a:solidFill>
              </a:rPr>
              <a:t>Bigger amounts get more caution, automatically</a:t>
            </a:r>
            <a:endParaRPr lang="en-US" sz="1800" dirty="0"/>
          </a:p>
          <a:p>
            <a:pPr marL="342900" indent="-342900">
              <a:spcAft>
                <a:spcPts val="1200"/>
              </a:spcAft>
              <a:buSzPct val="100000"/>
              <a:buChar char="•"/>
            </a:pPr>
            <a:r>
              <a:rPr lang="en-US" sz="1800" dirty="0">
                <a:solidFill>
                  <a:srgbClr val="1B2430"/>
                </a:solidFill>
              </a:rPr>
              <a:t>Unknown outcomes reported, not hidden (9.68%)</a:t>
            </a:r>
            <a:endParaRPr lang="en-US" sz="1800" dirty="0"/>
          </a:p>
        </p:txBody>
      </p:sp>
      <p:sp>
        <p:nvSpPr>
          <p:cNvPr id="6" name="conclusion-1"/>
          <p:cNvSpPr/>
          <p:nvPr/>
        </p:nvSpPr>
        <p:spPr>
          <a:xfrm>
            <a:off x="6324448" y="1874520"/>
            <a:ext cx="5272888" cy="4160520"/>
          </a:xfrm>
          <a:prstGeom prst="roundRect">
            <a:avLst>
              <a:gd name="adj" fmla="val 2637"/>
            </a:avLst>
          </a:prstGeom>
          <a:solidFill>
            <a:srgbClr val="FFFFFF"/>
          </a:solidFill>
          <a:ln w="9525">
            <a:solidFill>
              <a:srgbClr val="D6DBD0"/>
            </a:solidFill>
            <a:prstDash val="solid"/>
          </a:ln>
          <a:effectLst>
            <a:outerShdw sx="100000" sy="100000" kx="0" ky="0" algn="bl" rotWithShape="0" blurRad="76200" dist="25400" dir="5400000">
              <a:srgbClr val="0C1C36">
                <a:alpha val="8000"/>
              </a:srgbClr>
            </a:outerShdw>
          </a:effectLst>
        </p:spPr>
      </p:sp>
      <p:sp>
        <p:nvSpPr>
          <p:cNvPr id="7" name="Text 5"/>
          <p:cNvSpPr txBox="1"/>
          <p:nvPr/>
        </p:nvSpPr>
        <p:spPr>
          <a:xfrm>
            <a:off x="6735928" y="2194560"/>
            <a:ext cx="4449928" cy="502920"/>
          </a:xfrm>
          <a:prstGeom prst="rect">
            <a:avLst/>
          </a:prstGeom>
          <a:noFill/>
          <a:ln/>
        </p:spPr>
        <p:txBody>
          <a:bodyPr wrap="square" lIns="0" tIns="0" rIns="0" bIns="0" rtlCol="0" anchor="t"/>
          <a:lstStyle/>
          <a:p>
            <a:pPr indent="0" marL="0">
              <a:buNone/>
            </a:pPr>
            <a:r>
              <a:rPr lang="en-US" sz="2400" b="1" dirty="0">
                <a:solidFill>
                  <a:srgbClr val="B42318"/>
                </a:solidFill>
              </a:rPr>
              <a:t>What we did not show</a:t>
            </a:r>
            <a:endParaRPr lang="en-US" sz="2400" dirty="0"/>
          </a:p>
        </p:txBody>
      </p:sp>
      <p:sp>
        <p:nvSpPr>
          <p:cNvPr id="8" name="Text 6"/>
          <p:cNvSpPr txBox="1"/>
          <p:nvPr/>
        </p:nvSpPr>
        <p:spPr>
          <a:xfrm>
            <a:off x="6735928" y="2880360"/>
            <a:ext cx="4449928" cy="288036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1B2430"/>
                </a:solidFill>
              </a:rPr>
              <a:t>Real bank data: the dataset is synthetic</a:t>
            </a:r>
            <a:endParaRPr lang="en-US" sz="1800" dirty="0"/>
          </a:p>
          <a:p>
            <a:pPr marL="342900" indent="-342900">
              <a:spcAft>
                <a:spcPts val="1200"/>
              </a:spcAft>
              <a:buSzPct val="100000"/>
              <a:buChar char="•"/>
            </a:pPr>
            <a:r>
              <a:rPr lang="en-US" sz="1800" dirty="0">
                <a:solidFill>
                  <a:srgbClr val="1B2430"/>
                </a:solidFill>
              </a:rPr>
              <a:t>Other delays: only one month was tested</a:t>
            </a:r>
            <a:endParaRPr lang="en-US" sz="1800" dirty="0"/>
          </a:p>
          <a:p>
            <a:pPr marL="342900" indent="-342900">
              <a:spcAft>
                <a:spcPts val="1200"/>
              </a:spcAft>
              <a:buSzPct val="100000"/>
              <a:buChar char="•"/>
            </a:pPr>
            <a:r>
              <a:rPr lang="en-US" sz="1800" dirty="0">
                <a:solidFill>
                  <a:srgbClr val="1B2430"/>
                </a:solidFill>
              </a:rPr>
              <a:t>True amounts: credit limit stands in for the amount at risk</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85800" y="1417320"/>
            <a:ext cx="7680960" cy="1097280"/>
          </a:xfrm>
          <a:prstGeom prst="rect">
            <a:avLst/>
          </a:prstGeom>
          <a:noFill/>
          <a:ln/>
        </p:spPr>
        <p:txBody>
          <a:bodyPr wrap="square" lIns="0" tIns="0" rIns="0" bIns="0" rtlCol="0" anchor="b"/>
          <a:lstStyle/>
          <a:p>
            <a:pPr algn="l" indent="0" marL="0">
              <a:buNone/>
            </a:pPr>
            <a:r>
              <a:rPr lang="en-US" sz="5400" b="1" dirty="0">
                <a:solidFill>
                  <a:schemeClr val="bg1"/>
                </a:solidFill>
              </a:rPr>
              <a:t>Thank you</a:t>
            </a:r>
            <a:endParaRPr lang="en-US" sz="5400" dirty="0"/>
          </a:p>
        </p:txBody>
      </p:sp>
      <p:sp>
        <p:nvSpPr>
          <p:cNvPr id="3" name="Text 1"/>
          <p:cNvSpPr txBox="1"/>
          <p:nvPr/>
        </p:nvSpPr>
        <p:spPr>
          <a:xfrm>
            <a:off x="685800" y="2651760"/>
            <a:ext cx="5486400" cy="640080"/>
          </a:xfrm>
          <a:prstGeom prst="rect">
            <a:avLst/>
          </a:prstGeom>
          <a:noFill/>
          <a:ln/>
        </p:spPr>
        <p:txBody>
          <a:bodyPr wrap="square" lIns="0" tIns="0" rIns="0" bIns="0" rtlCol="0" anchor="t"/>
          <a:lstStyle/>
          <a:p>
            <a:pPr indent="0" marL="0">
              <a:buNone/>
            </a:pPr>
            <a:r>
              <a:rPr lang="en-US" sz="2800" dirty="0">
                <a:solidFill>
                  <a:srgbClr val="AFC0DA"/>
                </a:solidFill>
              </a:rPr>
              <a:t>Questions?</a:t>
            </a:r>
            <a:endParaRPr lang="en-US" sz="2800" dirty="0"/>
          </a:p>
        </p:txBody>
      </p:sp>
      <p:sp>
        <p:nvSpPr>
          <p:cNvPr id="4" name="Text 2"/>
          <p:cNvSpPr txBox="1"/>
          <p:nvPr/>
        </p:nvSpPr>
        <p:spPr>
          <a:xfrm>
            <a:off x="685800" y="4206240"/>
            <a:ext cx="8229600" cy="822960"/>
          </a:xfrm>
          <a:prstGeom prst="rect">
            <a:avLst/>
          </a:prstGeom>
          <a:noFill/>
          <a:ln/>
        </p:spPr>
        <p:txBody>
          <a:bodyPr wrap="square" lIns="0" tIns="0" rIns="0" bIns="0" rtlCol="0" anchor="t"/>
          <a:lstStyle/>
          <a:p>
            <a:pPr indent="0" marL="0">
              <a:spcAft>
                <a:spcPts val="600"/>
              </a:spcAft>
              <a:buNone/>
            </a:pPr>
            <a:r>
              <a:rPr lang="en-US" sz="1500" dirty="0">
                <a:solidFill>
                  <a:srgbClr val="AFC0DA"/>
                </a:solidFill>
                <a:latin typeface="Consolas" pitchFamily="34" charset="0"/>
                <a:ea typeface="Consolas" pitchFamily="34" charset="-122"/>
                <a:cs typeface="Consolas" pitchFamily="34" charset="-120"/>
              </a:rPr>
              <a:t>App  </a:t>
            </a:r>
            <a:pPr indent="0" marL="0">
              <a:spcAft>
                <a:spcPts val="600"/>
              </a:spcAft>
              <a:buNone/>
            </a:pPr>
            <a:r>
              <a:rPr lang="en-US" sz="1500" dirty="0">
                <a:solidFill>
                  <a:srgbClr val="FFFFFF"/>
                </a:solidFill>
                <a:latin typeface="Consolas" pitchFamily="34" charset="0"/>
                <a:ea typeface="Consolas" pitchFamily="34" charset="-122"/>
                <a:cs typeface="Consolas" pitchFamily="34" charset="-120"/>
              </a:rPr>
              <a:t>delayed-label-fraud-decisioning-gefp9s9mbkfdyzhhvescdm.streamlit.app</a:t>
            </a:r>
            <a:endParaRPr lang="en-US" sz="1500" dirty="0"/>
          </a:p>
          <a:p>
            <a:pPr indent="0" marL="0">
              <a:spcAft>
                <a:spcPts val="600"/>
              </a:spcAft>
              <a:buNone/>
            </a:pPr>
            <a:r>
              <a:rPr lang="en-US" sz="1500" dirty="0">
                <a:solidFill>
                  <a:srgbClr val="AFC0DA"/>
                </a:solidFill>
                <a:latin typeface="Consolas" pitchFamily="34" charset="0"/>
                <a:ea typeface="Consolas" pitchFamily="34" charset="-122"/>
                <a:cs typeface="Consolas" pitchFamily="34" charset="-120"/>
              </a:rPr>
              <a:t>Code  </a:t>
            </a:r>
            <a:pPr indent="0" marL="0">
              <a:spcAft>
                <a:spcPts val="600"/>
              </a:spcAft>
              <a:buNone/>
            </a:pPr>
            <a:r>
              <a:rPr lang="en-US" sz="1500" dirty="0">
                <a:solidFill>
                  <a:srgbClr val="FFFFFF"/>
                </a:solidFill>
                <a:latin typeface="Consolas" pitchFamily="34" charset="0"/>
                <a:ea typeface="Consolas" pitchFamily="34" charset="-122"/>
                <a:cs typeface="Consolas" pitchFamily="34" charset="-120"/>
              </a:rPr>
              <a:t>github.com/kira-ml/delayed-label-fraud-decisioning</a:t>
            </a:r>
            <a:endParaRPr lang="en-US" sz="1500" dirty="0"/>
          </a:p>
        </p:txBody>
      </p:sp>
      <p:sp>
        <p:nvSpPr>
          <p:cNvPr id="5" name="stamp-approve-outer"/>
          <p:cNvSpPr/>
          <p:nvPr/>
        </p:nvSpPr>
        <p:spPr>
          <a:xfrm rot="-360000">
            <a:off x="9006840" y="1828800"/>
            <a:ext cx="2377440" cy="822960"/>
          </a:xfrm>
          <a:prstGeom prst="roundRect">
            <a:avLst>
              <a:gd name="adj" fmla="val 8889"/>
            </a:avLst>
          </a:prstGeom>
          <a:solidFill>
            <a:srgbClr val="FFFFFF"/>
          </a:solidFill>
          <a:ln w="31750">
            <a:solidFill>
              <a:srgbClr val="1E7A46"/>
            </a:solidFill>
            <a:prstDash val="solid"/>
          </a:ln>
        </p:spPr>
      </p:sp>
      <p:sp>
        <p:nvSpPr>
          <p:cNvPr id="6" name="stamp-approve"/>
          <p:cNvSpPr/>
          <p:nvPr/>
        </p:nvSpPr>
        <p:spPr>
          <a:xfrm rot="-360000">
            <a:off x="9064447" y="1886407"/>
            <a:ext cx="2262226" cy="707746"/>
          </a:xfrm>
          <a:prstGeom prst="roundRect">
            <a:avLst>
              <a:gd name="adj" fmla="val 7752"/>
            </a:avLst>
          </a:prstGeom>
          <a:solidFill>
            <a:srgbClr val="FFFFFF"/>
          </a:solidFill>
          <a:ln w="12700">
            <a:solidFill>
              <a:srgbClr val="1E7A46"/>
            </a:solidFill>
          </a:ln>
        </p:spPr>
        <p:txBody>
          <a:bodyPr wrap="square" lIns="0" tIns="0" rIns="0" bIns="0" rtlCol="0" anchor="ctr"/>
          <a:lstStyle/>
          <a:p>
            <a:pPr algn="ctr" indent="0" marL="0">
              <a:buNone/>
            </a:pPr>
            <a:r>
              <a:rPr lang="en-US" sz="2400" b="1" spc="300" kern="0" dirty="0">
                <a:solidFill>
                  <a:srgbClr val="1E7A46"/>
                </a:solidFill>
                <a:latin typeface="Arial Narrow" pitchFamily="34" charset="0"/>
                <a:ea typeface="Arial Narrow" pitchFamily="34" charset="-122"/>
                <a:cs typeface="Arial Narrow" pitchFamily="34" charset="-120"/>
              </a:rPr>
              <a:t>APPROVED</a:t>
            </a:r>
            <a:endParaRPr lang="en-US" sz="2400" dirty="0"/>
          </a:p>
        </p:txBody>
      </p:sp>
      <p:sp>
        <p:nvSpPr>
          <p:cNvPr id="7" name="stamp-review-outer"/>
          <p:cNvSpPr/>
          <p:nvPr/>
        </p:nvSpPr>
        <p:spPr>
          <a:xfrm rot="240000">
            <a:off x="8823960" y="2926080"/>
            <a:ext cx="2697480" cy="822960"/>
          </a:xfrm>
          <a:prstGeom prst="roundRect">
            <a:avLst>
              <a:gd name="adj" fmla="val 8889"/>
            </a:avLst>
          </a:prstGeom>
          <a:solidFill>
            <a:srgbClr val="FFFFFF"/>
          </a:solidFill>
          <a:ln w="31750">
            <a:solidFill>
              <a:srgbClr val="A8660F"/>
            </a:solidFill>
            <a:prstDash val="solid"/>
          </a:ln>
        </p:spPr>
      </p:sp>
      <p:sp>
        <p:nvSpPr>
          <p:cNvPr id="8" name="stamp-review"/>
          <p:cNvSpPr/>
          <p:nvPr/>
        </p:nvSpPr>
        <p:spPr>
          <a:xfrm rot="240000">
            <a:off x="8881567" y="2983687"/>
            <a:ext cx="2582266" cy="707746"/>
          </a:xfrm>
          <a:prstGeom prst="roundRect">
            <a:avLst>
              <a:gd name="adj" fmla="val 7752"/>
            </a:avLst>
          </a:prstGeom>
          <a:solidFill>
            <a:srgbClr val="FFFFFF"/>
          </a:solidFill>
          <a:ln w="12700">
            <a:solidFill>
              <a:srgbClr val="A8660F"/>
            </a:solidFill>
          </a:ln>
        </p:spPr>
        <p:txBody>
          <a:bodyPr wrap="square" lIns="0" tIns="0" rIns="0" bIns="0" rtlCol="0" anchor="ctr"/>
          <a:lstStyle/>
          <a:p>
            <a:pPr algn="ctr" indent="0" marL="0">
              <a:buNone/>
            </a:pPr>
            <a:r>
              <a:rPr lang="en-US" sz="2400" b="1" spc="300" kern="0" dirty="0">
                <a:solidFill>
                  <a:srgbClr val="A8660F"/>
                </a:solidFill>
                <a:latin typeface="Arial Narrow" pitchFamily="34" charset="0"/>
                <a:ea typeface="Arial Narrow" pitchFamily="34" charset="-122"/>
                <a:cs typeface="Arial Narrow" pitchFamily="34" charset="-120"/>
              </a:rPr>
              <a:t>FOR REVIEW</a:t>
            </a:r>
            <a:endParaRPr lang="en-US" sz="2400" dirty="0"/>
          </a:p>
        </p:txBody>
      </p:sp>
      <p:sp>
        <p:nvSpPr>
          <p:cNvPr id="9" name="stamp-block-outer"/>
          <p:cNvSpPr/>
          <p:nvPr/>
        </p:nvSpPr>
        <p:spPr>
          <a:xfrm rot="-180000">
            <a:off x="9098280" y="4023360"/>
            <a:ext cx="2240280" cy="822960"/>
          </a:xfrm>
          <a:prstGeom prst="roundRect">
            <a:avLst>
              <a:gd name="adj" fmla="val 8889"/>
            </a:avLst>
          </a:prstGeom>
          <a:solidFill>
            <a:srgbClr val="FFFFFF"/>
          </a:solidFill>
          <a:ln w="31750">
            <a:solidFill>
              <a:srgbClr val="B42318"/>
            </a:solidFill>
            <a:prstDash val="solid"/>
          </a:ln>
        </p:spPr>
      </p:sp>
      <p:sp>
        <p:nvSpPr>
          <p:cNvPr id="10" name="stamp-block"/>
          <p:cNvSpPr/>
          <p:nvPr/>
        </p:nvSpPr>
        <p:spPr>
          <a:xfrm rot="-180000">
            <a:off x="9155887" y="4080967"/>
            <a:ext cx="2125066" cy="707746"/>
          </a:xfrm>
          <a:prstGeom prst="roundRect">
            <a:avLst>
              <a:gd name="adj" fmla="val 7752"/>
            </a:avLst>
          </a:prstGeom>
          <a:solidFill>
            <a:srgbClr val="FFFFFF"/>
          </a:solidFill>
          <a:ln w="12700">
            <a:solidFill>
              <a:srgbClr val="B42318"/>
            </a:solidFill>
          </a:ln>
        </p:spPr>
        <p:txBody>
          <a:bodyPr wrap="square" lIns="0" tIns="0" rIns="0" bIns="0" rtlCol="0" anchor="ctr"/>
          <a:lstStyle/>
          <a:p>
            <a:pPr algn="ctr" indent="0" marL="0">
              <a:buNone/>
            </a:pPr>
            <a:r>
              <a:rPr lang="en-US" sz="2400" b="1" spc="300" kern="0" dirty="0">
                <a:solidFill>
                  <a:srgbClr val="B42318"/>
                </a:solidFill>
                <a:latin typeface="Arial Narrow" pitchFamily="34" charset="0"/>
                <a:ea typeface="Arial Narrow" pitchFamily="34" charset="-122"/>
                <a:cs typeface="Arial Narrow" pitchFamily="34" charset="-120"/>
              </a:rPr>
              <a:t>BLOCKED</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94360" y="347472"/>
            <a:ext cx="11002975" cy="777240"/>
          </a:xfrm>
          <a:prstGeom prst="rect">
            <a:avLst/>
          </a:prstGeom>
          <a:noFill/>
          <a:ln/>
        </p:spPr>
        <p:txBody>
          <a:bodyPr wrap="square" lIns="0" tIns="0" rIns="0" bIns="0" rtlCol="0" anchor="ctr"/>
          <a:lstStyle/>
          <a:p>
            <a:pPr algn="l" indent="0" marL="0">
              <a:buNone/>
            </a:pPr>
            <a:r>
              <a:rPr lang="en-US" sz="3400" b="1" dirty="0">
                <a:solidFill>
                  <a:schemeClr val="tx2"/>
                </a:solidFill>
              </a:rPr>
              <a:t>Backup: one application</a:t>
            </a:r>
            <a:endParaRPr lang="en-US" sz="3400" dirty="0"/>
          </a:p>
        </p:txBody>
      </p:sp>
      <p:sp>
        <p:nvSpPr>
          <p:cNvPr id="3" name="backup-frame-0-0"/>
          <p:cNvSpPr/>
          <p:nvPr/>
        </p:nvSpPr>
        <p:spPr>
          <a:xfrm>
            <a:off x="557784" y="1335024"/>
            <a:ext cx="5391760" cy="3530247"/>
          </a:xfrm>
          <a:prstGeom prst="roundRect">
            <a:avLst>
              <a:gd name="adj" fmla="val 2072"/>
            </a:avLst>
          </a:prstGeom>
          <a:solidFill>
            <a:srgbClr val="FFFFFF"/>
          </a:solidFill>
          <a:ln w="9525">
            <a:solidFill>
              <a:srgbClr val="D6DBD0"/>
            </a:solidFill>
            <a:prstDash val="solid"/>
          </a:ln>
        </p:spPr>
      </p:sp>
      <p:pic>
        <p:nvPicPr>
          <p:cNvPr id="4" name="backup-0-0" descr="App screenshot: Everyday: APPROVED">    </p:cNvPr>
          <p:cNvPicPr>
            <a:picLocks noChangeAspect="1"/>
          </p:cNvPicPr>
          <p:nvPr/>
        </p:nvPicPr>
        <p:blipFill>
          <a:blip r:embed="rId1"/>
          <a:stretch>
            <a:fillRect/>
          </a:stretch>
        </p:blipFill>
        <p:spPr>
          <a:xfrm>
            <a:off x="594360" y="1371600"/>
            <a:ext cx="5318608" cy="3457095"/>
          </a:xfrm>
          <a:prstGeom prst="rect">
            <a:avLst/>
          </a:prstGeom>
        </p:spPr>
      </p:pic>
      <p:sp>
        <p:nvSpPr>
          <p:cNvPr id="5" name="Text 2"/>
          <p:cNvSpPr txBox="1"/>
          <p:nvPr/>
        </p:nvSpPr>
        <p:spPr>
          <a:xfrm>
            <a:off x="594360" y="4965855"/>
            <a:ext cx="5318608" cy="320040"/>
          </a:xfrm>
          <a:prstGeom prst="rect">
            <a:avLst/>
          </a:prstGeom>
          <a:noFill/>
          <a:ln/>
        </p:spPr>
        <p:txBody>
          <a:bodyPr wrap="square" lIns="0" tIns="0" rIns="0" bIns="0" rtlCol="0" anchor="t"/>
          <a:lstStyle/>
          <a:p>
            <a:pPr indent="0" marL="0">
              <a:buNone/>
            </a:pPr>
            <a:r>
              <a:rPr lang="en-US" sz="1600" b="1" dirty="0">
                <a:solidFill>
                  <a:srgbClr val="13294B"/>
                </a:solidFill>
              </a:rPr>
              <a:t>Everyday: APPROVED</a:t>
            </a:r>
            <a:endParaRPr lang="en-US" sz="1600" dirty="0"/>
          </a:p>
        </p:txBody>
      </p:sp>
      <p:sp>
        <p:nvSpPr>
          <p:cNvPr id="6" name="backup-frame-0-1"/>
          <p:cNvSpPr/>
          <p:nvPr/>
        </p:nvSpPr>
        <p:spPr>
          <a:xfrm>
            <a:off x="6242152" y="1335024"/>
            <a:ext cx="5391760" cy="3530247"/>
          </a:xfrm>
          <a:prstGeom prst="roundRect">
            <a:avLst>
              <a:gd name="adj" fmla="val 2072"/>
            </a:avLst>
          </a:prstGeom>
          <a:solidFill>
            <a:srgbClr val="FFFFFF"/>
          </a:solidFill>
          <a:ln w="9525">
            <a:solidFill>
              <a:srgbClr val="D6DBD0"/>
            </a:solidFill>
            <a:prstDash val="solid"/>
          </a:ln>
        </p:spPr>
      </p:sp>
      <p:pic>
        <p:nvPicPr>
          <p:cNvPr id="7" name="backup-0-1" descr="App screenshot: Suspicious: BLOCKED">    </p:cNvPr>
          <p:cNvPicPr>
            <a:picLocks noChangeAspect="1"/>
          </p:cNvPicPr>
          <p:nvPr/>
        </p:nvPicPr>
        <p:blipFill>
          <a:blip r:embed="rId2"/>
          <a:stretch>
            <a:fillRect/>
          </a:stretch>
        </p:blipFill>
        <p:spPr>
          <a:xfrm>
            <a:off x="6278728" y="1371600"/>
            <a:ext cx="5318608" cy="3457095"/>
          </a:xfrm>
          <a:prstGeom prst="rect">
            <a:avLst/>
          </a:prstGeom>
        </p:spPr>
      </p:pic>
      <p:sp>
        <p:nvSpPr>
          <p:cNvPr id="8" name="Text 4"/>
          <p:cNvSpPr txBox="1"/>
          <p:nvPr/>
        </p:nvSpPr>
        <p:spPr>
          <a:xfrm>
            <a:off x="6278728" y="4965855"/>
            <a:ext cx="5318608" cy="320040"/>
          </a:xfrm>
          <a:prstGeom prst="rect">
            <a:avLst/>
          </a:prstGeom>
          <a:noFill/>
          <a:ln/>
        </p:spPr>
        <p:txBody>
          <a:bodyPr wrap="square" lIns="0" tIns="0" rIns="0" bIns="0" rtlCol="0" anchor="t"/>
          <a:lstStyle/>
          <a:p>
            <a:pPr indent="0" marL="0">
              <a:buNone/>
            </a:pPr>
            <a:r>
              <a:rPr lang="en-US" sz="1600" b="1" dirty="0">
                <a:solidFill>
                  <a:srgbClr val="13294B"/>
                </a:solidFill>
              </a:rPr>
              <a:t>Suspicious: BLOCKED</a:t>
            </a:r>
            <a:endParaRPr lang="en-US" sz="1600" dirty="0"/>
          </a:p>
        </p:txBody>
      </p:sp>
      <p:sp>
        <p:nvSpPr>
          <p:cNvPr id="25" name="Slide Number Placeholder 0"/>
          <p:cNvSpPr>
            <a:spLocks noGrp="1"/>
          </p:cNvSpPr>
          <p:nvPr>
            <p:ph type="sldNum" sz="quarter" idx="4294967295"/>
          </p:nvPr>
        </p:nvSpPr>
        <p:spPr>
          <a:xfrm>
            <a:off x="1104869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E475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94360" y="347472"/>
            <a:ext cx="11002975" cy="777240"/>
          </a:xfrm>
          <a:prstGeom prst="rect">
            <a:avLst/>
          </a:prstGeom>
          <a:noFill/>
          <a:ln/>
        </p:spPr>
        <p:txBody>
          <a:bodyPr wrap="square" lIns="0" tIns="0" rIns="0" bIns="0" rtlCol="0" anchor="ctr"/>
          <a:lstStyle/>
          <a:p>
            <a:pPr algn="l" indent="0" marL="0">
              <a:buNone/>
            </a:pPr>
            <a:r>
              <a:rPr lang="en-US" sz="3400" b="1" dirty="0">
                <a:solidFill>
                  <a:schemeClr val="tx2"/>
                </a:solidFill>
              </a:rPr>
              <a:t>Backup: raised limit and batch</a:t>
            </a:r>
            <a:endParaRPr lang="en-US" sz="3400" dirty="0"/>
          </a:p>
        </p:txBody>
      </p:sp>
      <p:sp>
        <p:nvSpPr>
          <p:cNvPr id="3" name="backup-frame-1-0"/>
          <p:cNvSpPr/>
          <p:nvPr/>
        </p:nvSpPr>
        <p:spPr>
          <a:xfrm>
            <a:off x="557784" y="1335024"/>
            <a:ext cx="5391760" cy="3530247"/>
          </a:xfrm>
          <a:prstGeom prst="roundRect">
            <a:avLst>
              <a:gd name="adj" fmla="val 2072"/>
            </a:avLst>
          </a:prstGeom>
          <a:solidFill>
            <a:srgbClr val="FFFFFF"/>
          </a:solidFill>
          <a:ln w="9525">
            <a:solidFill>
              <a:srgbClr val="D6DBD0"/>
            </a:solidFill>
            <a:prstDash val="solid"/>
          </a:ln>
        </p:spPr>
      </p:sp>
      <p:pic>
        <p:nvPicPr>
          <p:cNvPr id="4" name="backup-1-0" descr="App screenshot: Unusual at 1,000: FOR REVIEW">    </p:cNvPr>
          <p:cNvPicPr>
            <a:picLocks noChangeAspect="1"/>
          </p:cNvPicPr>
          <p:nvPr/>
        </p:nvPicPr>
        <p:blipFill>
          <a:blip r:embed="rId1"/>
          <a:stretch>
            <a:fillRect/>
          </a:stretch>
        </p:blipFill>
        <p:spPr>
          <a:xfrm>
            <a:off x="594360" y="1371600"/>
            <a:ext cx="5318608" cy="3457095"/>
          </a:xfrm>
          <a:prstGeom prst="rect">
            <a:avLst/>
          </a:prstGeom>
        </p:spPr>
      </p:pic>
      <p:sp>
        <p:nvSpPr>
          <p:cNvPr id="5" name="Text 2"/>
          <p:cNvSpPr txBox="1"/>
          <p:nvPr/>
        </p:nvSpPr>
        <p:spPr>
          <a:xfrm>
            <a:off x="594360" y="4965855"/>
            <a:ext cx="5318608" cy="320040"/>
          </a:xfrm>
          <a:prstGeom prst="rect">
            <a:avLst/>
          </a:prstGeom>
          <a:noFill/>
          <a:ln/>
        </p:spPr>
        <p:txBody>
          <a:bodyPr wrap="square" lIns="0" tIns="0" rIns="0" bIns="0" rtlCol="0" anchor="t"/>
          <a:lstStyle/>
          <a:p>
            <a:pPr indent="0" marL="0">
              <a:buNone/>
            </a:pPr>
            <a:r>
              <a:rPr lang="en-US" sz="1600" b="1" dirty="0">
                <a:solidFill>
                  <a:srgbClr val="13294B"/>
                </a:solidFill>
              </a:rPr>
              <a:t>Unusual at 1,000: FOR REVIEW</a:t>
            </a:r>
            <a:endParaRPr lang="en-US" sz="1600" dirty="0"/>
          </a:p>
        </p:txBody>
      </p:sp>
      <p:sp>
        <p:nvSpPr>
          <p:cNvPr id="6" name="backup-frame-1-1"/>
          <p:cNvSpPr/>
          <p:nvPr/>
        </p:nvSpPr>
        <p:spPr>
          <a:xfrm>
            <a:off x="6242152" y="1335024"/>
            <a:ext cx="5391760" cy="3530247"/>
          </a:xfrm>
          <a:prstGeom prst="roundRect">
            <a:avLst>
              <a:gd name="adj" fmla="val 2072"/>
            </a:avLst>
          </a:prstGeom>
          <a:solidFill>
            <a:srgbClr val="FFFFFF"/>
          </a:solidFill>
          <a:ln w="9525">
            <a:solidFill>
              <a:srgbClr val="D6DBD0"/>
            </a:solidFill>
            <a:prstDash val="solid"/>
          </a:ln>
        </p:spPr>
      </p:sp>
      <p:pic>
        <p:nvPicPr>
          <p:cNvPr id="7" name="backup-1-1" descr="App screenshot: Batch of 500 sample applications">    </p:cNvPr>
          <p:cNvPicPr>
            <a:picLocks noChangeAspect="1"/>
          </p:cNvPicPr>
          <p:nvPr/>
        </p:nvPicPr>
        <p:blipFill>
          <a:blip r:embed="rId2"/>
          <a:stretch>
            <a:fillRect/>
          </a:stretch>
        </p:blipFill>
        <p:spPr>
          <a:xfrm>
            <a:off x="6278728" y="1371600"/>
            <a:ext cx="5318608" cy="3457095"/>
          </a:xfrm>
          <a:prstGeom prst="rect">
            <a:avLst/>
          </a:prstGeom>
        </p:spPr>
      </p:pic>
      <p:sp>
        <p:nvSpPr>
          <p:cNvPr id="8" name="Text 4"/>
          <p:cNvSpPr txBox="1"/>
          <p:nvPr/>
        </p:nvSpPr>
        <p:spPr>
          <a:xfrm>
            <a:off x="6278728" y="4965855"/>
            <a:ext cx="5318608" cy="320040"/>
          </a:xfrm>
          <a:prstGeom prst="rect">
            <a:avLst/>
          </a:prstGeom>
          <a:noFill/>
          <a:ln/>
        </p:spPr>
        <p:txBody>
          <a:bodyPr wrap="square" lIns="0" tIns="0" rIns="0" bIns="0" rtlCol="0" anchor="t"/>
          <a:lstStyle/>
          <a:p>
            <a:pPr indent="0" marL="0">
              <a:buNone/>
            </a:pPr>
            <a:r>
              <a:rPr lang="en-US" sz="1600" b="1" dirty="0">
                <a:solidFill>
                  <a:srgbClr val="13294B"/>
                </a:solidFill>
              </a:rPr>
              <a:t>Batch of 500 sample applications</a:t>
            </a:r>
            <a:endParaRPr lang="en-US" sz="1600" dirty="0"/>
          </a:p>
        </p:txBody>
      </p:sp>
      <p:sp>
        <p:nvSpPr>
          <p:cNvPr id="25" name="Slide Number Placeholder 0"/>
          <p:cNvSpPr>
            <a:spLocks noGrp="1"/>
          </p:cNvSpPr>
          <p:nvPr>
            <p:ph type="sldNum" sz="quarter" idx="4294967295"/>
          </p:nvPr>
        </p:nvSpPr>
        <p:spPr>
          <a:xfrm>
            <a:off x="1104869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E4752"/>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Fraud Decision Desk">
  <a:themeElements>
    <a:clrScheme name="Fraud Decision Desk">
      <a:dk1>
        <a:srgbClr val="1B2430"/>
      </a:dk1>
      <a:lt1>
        <a:srgbClr val="FFFFFF"/>
      </a:lt1>
      <a:dk2>
        <a:srgbClr val="13294B"/>
      </a:dk2>
      <a:lt2>
        <a:srgbClr val="F3F5EF"/>
      </a:lt2>
      <a:accent1>
        <a:srgbClr val="13294B"/>
      </a:accent1>
      <a:accent2>
        <a:srgbClr val="1E7A46"/>
      </a:accent2>
      <a:accent3>
        <a:srgbClr val="A8660F"/>
      </a:accent3>
      <a:accent4>
        <a:srgbClr val="B42318"/>
      </a:accent4>
      <a:accent5>
        <a:srgbClr val="1F55D6"/>
      </a:accent5>
      <a:accent6>
        <a:srgbClr val="B8C0C9"/>
      </a:accent6>
      <a:hlink>
        <a:srgbClr val="1F55D6"/>
      </a:hlink>
      <a:folHlink>
        <a:srgbClr val="13294B"/>
      </a:folHlink>
    </a:clrScheme>
    <a:fontScheme name="Fraud Decision Des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National University Philippines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Fraud Decision Desk</dc:title>
  <dc:subject>PptxGenJS Presentation</dc:subject>
  <dc:creator>Ken Ira Lacson Talingting, Lawrence Abad, John Kelly Nogales, Smith Albert Surio</dc:creator>
  <cp:lastModifiedBy>Ken Ira Lacson Talingting, Lawrence Abad, John Kelly Nogales, Smith Albert Surio</cp:lastModifiedBy>
  <cp:revision>1</cp:revision>
  <dcterms:created xsi:type="dcterms:W3CDTF">2026-10-16T13:02:33Z</dcterms:created>
  <dcterms:modified xsi:type="dcterms:W3CDTF">2026-10-16T13:02:33Z</dcterms:modified>
</cp:coreProperties>
</file>